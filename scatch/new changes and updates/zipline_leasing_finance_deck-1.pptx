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9" d="100"/>
          <a:sy n="119" d="100"/>
        </p:scale>
        <p:origin x="216" y="2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50191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7.jpg"/><Relationship Id="rId4" Type="http://schemas.openxmlformats.org/officeDocument/2006/relationships/image" Target="../media/image6.jp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626"/>
        </a:solidFill>
        <a:effectLst/>
      </p:bgPr>
    </p:bg>
    <p:spTree>
      <p:nvGrpSpPr>
        <p:cNvPr id="1" name=""/>
        <p:cNvGrpSpPr/>
        <p:nvPr/>
      </p:nvGrpSpPr>
      <p:grpSpPr>
        <a:xfrm>
          <a:off x="0" y="0"/>
          <a:ext cx="0" cy="0"/>
          <a:chOff x="0" y="0"/>
          <a:chExt cx="0" cy="0"/>
        </a:xfrm>
      </p:grpSpPr>
      <p:pic>
        <p:nvPicPr>
          <p:cNvPr id="2" name="Image 0" descr="assets/crop_cover_hero.jpg"/>
          <p:cNvPicPr>
            <a:picLocks noChangeAspect="1"/>
          </p:cNvPicPr>
          <p:nvPr/>
        </p:nvPicPr>
        <p:blipFill>
          <a:blip r:embed="rId3"/>
          <a:stretch>
            <a:fillRect/>
          </a:stretch>
        </p:blipFill>
        <p:spPr>
          <a:xfrm>
            <a:off x="0" y="1444752"/>
            <a:ext cx="12191695" cy="3904488"/>
          </a:xfrm>
          <a:prstGeom prst="rect">
            <a:avLst/>
          </a:prstGeom>
        </p:spPr>
      </p:pic>
      <p:sp>
        <p:nvSpPr>
          <p:cNvPr id="3" name="Shape 0"/>
          <p:cNvSpPr/>
          <p:nvPr/>
        </p:nvSpPr>
        <p:spPr>
          <a:xfrm>
            <a:off x="0" y="0"/>
            <a:ext cx="12191695" cy="1444752"/>
          </a:xfrm>
          <a:prstGeom prst="rect">
            <a:avLst/>
          </a:prstGeom>
          <a:solidFill>
            <a:srgbClr val="0B1626"/>
          </a:solidFill>
          <a:ln/>
        </p:spPr>
        <p:txBody>
          <a:bodyPr/>
          <a:lstStyle/>
          <a:p>
            <a:endParaRPr lang="en-US"/>
          </a:p>
        </p:txBody>
      </p:sp>
      <p:sp>
        <p:nvSpPr>
          <p:cNvPr id="4" name="Shape 1"/>
          <p:cNvSpPr/>
          <p:nvPr/>
        </p:nvSpPr>
        <p:spPr>
          <a:xfrm>
            <a:off x="0" y="5349240"/>
            <a:ext cx="12191695" cy="1508760"/>
          </a:xfrm>
          <a:prstGeom prst="rect">
            <a:avLst/>
          </a:prstGeom>
          <a:solidFill>
            <a:srgbClr val="0B1626"/>
          </a:solidFill>
          <a:ln/>
        </p:spPr>
        <p:txBody>
          <a:bodyPr/>
          <a:lstStyle/>
          <a:p>
            <a:endParaRPr lang="en-US"/>
          </a:p>
        </p:txBody>
      </p:sp>
      <p:sp>
        <p:nvSpPr>
          <p:cNvPr id="5" name="Shape 2"/>
          <p:cNvSpPr/>
          <p:nvPr/>
        </p:nvSpPr>
        <p:spPr>
          <a:xfrm>
            <a:off x="0" y="5349240"/>
            <a:ext cx="12191695" cy="20117"/>
          </a:xfrm>
          <a:prstGeom prst="rect">
            <a:avLst/>
          </a:prstGeom>
          <a:solidFill>
            <a:srgbClr val="C9A227"/>
          </a:solidFill>
          <a:ln/>
        </p:spPr>
        <p:txBody>
          <a:bodyPr/>
          <a:lstStyle/>
          <a:p>
            <a:endParaRPr lang="en-US"/>
          </a:p>
        </p:txBody>
      </p:sp>
      <p:pic>
        <p:nvPicPr>
          <p:cNvPr id="6" name="Image 1" descr="assets/baked_icon_gold_on_navydeep.png"/>
          <p:cNvPicPr>
            <a:picLocks noChangeAspect="1"/>
          </p:cNvPicPr>
          <p:nvPr/>
        </p:nvPicPr>
        <p:blipFill>
          <a:blip r:embed="rId4"/>
          <a:stretch>
            <a:fillRect/>
          </a:stretch>
        </p:blipFill>
        <p:spPr>
          <a:xfrm>
            <a:off x="685800" y="365760"/>
            <a:ext cx="512064" cy="640080"/>
          </a:xfrm>
          <a:prstGeom prst="rect">
            <a:avLst/>
          </a:prstGeom>
        </p:spPr>
      </p:pic>
      <p:sp>
        <p:nvSpPr>
          <p:cNvPr id="7" name="Text 3"/>
          <p:cNvSpPr/>
          <p:nvPr/>
        </p:nvSpPr>
        <p:spPr>
          <a:xfrm>
            <a:off x="1316736" y="365760"/>
            <a:ext cx="4572000" cy="347472"/>
          </a:xfrm>
          <a:prstGeom prst="rect">
            <a:avLst/>
          </a:prstGeom>
          <a:noFill/>
          <a:ln/>
        </p:spPr>
        <p:txBody>
          <a:bodyPr wrap="square" rtlCol="0" anchor="ctr"/>
          <a:lstStyle/>
          <a:p>
            <a:pPr marL="0" indent="0">
              <a:buNone/>
            </a:pPr>
            <a:r>
              <a:rPr lang="en-US" sz="1500" b="1" kern="0" spc="200" dirty="0">
                <a:solidFill>
                  <a:srgbClr val="FFFFFF"/>
                </a:solidFill>
                <a:latin typeface="Liberation Serif" pitchFamily="34" charset="0"/>
                <a:ea typeface="Liberation Serif" pitchFamily="34" charset="-122"/>
                <a:cs typeface="Liberation Serif" pitchFamily="34" charset="-120"/>
              </a:rPr>
              <a:t>ZIPLINE EXPRESS</a:t>
            </a:r>
            <a:endParaRPr lang="en-US" sz="1500" dirty="0"/>
          </a:p>
        </p:txBody>
      </p:sp>
      <p:sp>
        <p:nvSpPr>
          <p:cNvPr id="8" name="Text 4"/>
          <p:cNvSpPr/>
          <p:nvPr/>
        </p:nvSpPr>
        <p:spPr>
          <a:xfrm>
            <a:off x="1316736" y="658368"/>
            <a:ext cx="4572000" cy="256032"/>
          </a:xfrm>
          <a:prstGeom prst="rect">
            <a:avLst/>
          </a:prstGeom>
          <a:noFill/>
          <a:ln/>
        </p:spPr>
        <p:txBody>
          <a:bodyPr wrap="square" rtlCol="0" anchor="ctr"/>
          <a:lstStyle/>
          <a:p>
            <a:pPr marL="0" indent="0">
              <a:buNone/>
            </a:pPr>
            <a:r>
              <a:rPr lang="en-US" sz="950" kern="0" spc="300" dirty="0">
                <a:solidFill>
                  <a:srgbClr val="E8CD73"/>
                </a:solidFill>
                <a:latin typeface="Liberation Sans" pitchFamily="34" charset="0"/>
                <a:ea typeface="Liberation Sans" pitchFamily="34" charset="-122"/>
                <a:cs typeface="Liberation Sans" pitchFamily="34" charset="-120"/>
              </a:rPr>
              <a:t>LTD.</a:t>
            </a:r>
            <a:endParaRPr lang="en-US" sz="950" dirty="0"/>
          </a:p>
        </p:txBody>
      </p:sp>
      <p:sp>
        <p:nvSpPr>
          <p:cNvPr id="9" name="Text 5"/>
          <p:cNvSpPr/>
          <p:nvPr/>
        </p:nvSpPr>
        <p:spPr>
          <a:xfrm>
            <a:off x="5882335" y="457200"/>
            <a:ext cx="5623560" cy="365760"/>
          </a:xfrm>
          <a:prstGeom prst="rect">
            <a:avLst/>
          </a:prstGeom>
          <a:noFill/>
          <a:ln/>
        </p:spPr>
        <p:txBody>
          <a:bodyPr wrap="square" rtlCol="0" anchor="ctr"/>
          <a:lstStyle/>
          <a:p>
            <a:pPr marL="0" indent="0" algn="r">
              <a:buNone/>
            </a:pPr>
            <a:r>
              <a:rPr lang="en-US" sz="1100" b="1" kern="0" spc="160" dirty="0">
                <a:solidFill>
                  <a:srgbClr val="C9A227"/>
                </a:solidFill>
                <a:latin typeface="Liberation Sans" pitchFamily="34" charset="0"/>
                <a:ea typeface="Liberation Sans" pitchFamily="34" charset="-122"/>
                <a:cs typeface="Liberation Sans" pitchFamily="34" charset="-120"/>
              </a:rPr>
              <a:t>AIRCRAFT LEASING &amp; FINANCING SUMMARY</a:t>
            </a:r>
            <a:endParaRPr lang="en-US" sz="1100" dirty="0"/>
          </a:p>
        </p:txBody>
      </p:sp>
      <p:sp>
        <p:nvSpPr>
          <p:cNvPr id="10" name="Text 6"/>
          <p:cNvSpPr/>
          <p:nvPr/>
        </p:nvSpPr>
        <p:spPr>
          <a:xfrm>
            <a:off x="685800" y="5468112"/>
            <a:ext cx="10789920" cy="777240"/>
          </a:xfrm>
          <a:prstGeom prst="rect">
            <a:avLst/>
          </a:prstGeom>
          <a:noFill/>
          <a:ln/>
        </p:spPr>
        <p:txBody>
          <a:bodyPr wrap="square" rtlCol="0" anchor="ctr"/>
          <a:lstStyle/>
          <a:p>
            <a:pPr marL="0" indent="0">
              <a:lnSpc>
                <a:spcPct val="112000"/>
              </a:lnSpc>
              <a:buNone/>
            </a:pPr>
            <a:r>
              <a:rPr lang="en-US" sz="1900" dirty="0">
                <a:solidFill>
                  <a:srgbClr val="FFFFFF"/>
                </a:solidFill>
                <a:latin typeface="Liberation Serif" pitchFamily="34" charset="0"/>
                <a:ea typeface="Liberation Serif" pitchFamily="34" charset="-122"/>
                <a:cs typeface="Liberation Serif" pitchFamily="34" charset="-120"/>
              </a:rPr>
              <a:t>Building the Next Generation of Regional Air</a:t>
            </a:r>
            <a:endParaRPr lang="en-US" sz="1900" dirty="0"/>
          </a:p>
          <a:p>
            <a:pPr marL="0" indent="0">
              <a:lnSpc>
                <a:spcPct val="112000"/>
              </a:lnSpc>
              <a:buNone/>
            </a:pPr>
            <a:r>
              <a:rPr lang="en-US" sz="1900" dirty="0">
                <a:solidFill>
                  <a:srgbClr val="FFFFFF"/>
                </a:solidFill>
                <a:latin typeface="Liberation Serif" pitchFamily="34" charset="0"/>
                <a:ea typeface="Liberation Serif" pitchFamily="34" charset="-122"/>
                <a:cs typeface="Liberation Serif" pitchFamily="34" charset="-120"/>
              </a:rPr>
              <a:t>Transportation Across The Bahamas</a:t>
            </a:r>
            <a:endParaRPr lang="en-US" sz="1900" dirty="0"/>
          </a:p>
        </p:txBody>
      </p:sp>
      <p:sp>
        <p:nvSpPr>
          <p:cNvPr id="11" name="Text 7"/>
          <p:cNvSpPr/>
          <p:nvPr/>
        </p:nvSpPr>
        <p:spPr>
          <a:xfrm>
            <a:off x="685800" y="6355080"/>
            <a:ext cx="3291840" cy="411480"/>
          </a:xfrm>
          <a:prstGeom prst="rect">
            <a:avLst/>
          </a:prstGeom>
          <a:noFill/>
          <a:ln/>
        </p:spPr>
        <p:txBody>
          <a:bodyPr wrap="square" rtlCol="0" anchor="ctr"/>
          <a:lstStyle/>
          <a:p>
            <a:pPr marL="0" indent="0">
              <a:lnSpc>
                <a:spcPct val="110000"/>
              </a:lnSpc>
              <a:buNone/>
            </a:pPr>
            <a:r>
              <a:rPr lang="en-US" sz="1250" b="1" dirty="0">
                <a:solidFill>
                  <a:srgbClr val="FFFFFF"/>
                </a:solidFill>
                <a:latin typeface="Liberation Sans" pitchFamily="34" charset="0"/>
                <a:ea typeface="Liberation Sans" pitchFamily="34" charset="-122"/>
                <a:cs typeface="Liberation Sans" pitchFamily="34" charset="-120"/>
              </a:rPr>
              <a:t>Captain Mornel Brown</a:t>
            </a:r>
            <a:endParaRPr lang="en-US" sz="1250" dirty="0"/>
          </a:p>
          <a:p>
            <a:pPr marL="0" indent="0">
              <a:lnSpc>
                <a:spcPct val="110000"/>
              </a:lnSpc>
              <a:buNone/>
            </a:pPr>
            <a:r>
              <a:rPr lang="en-US" sz="1000" dirty="0">
                <a:solidFill>
                  <a:srgbClr val="AEB9CC"/>
                </a:solidFill>
                <a:latin typeface="Liberation Sans" pitchFamily="34" charset="0"/>
                <a:ea typeface="Liberation Sans" pitchFamily="34" charset="-122"/>
                <a:cs typeface="Liberation Sans" pitchFamily="34" charset="-120"/>
              </a:rPr>
              <a:t>Founder &amp; CEO</a:t>
            </a:r>
            <a:endParaRPr lang="en-US" sz="1250" dirty="0"/>
          </a:p>
        </p:txBody>
      </p:sp>
      <p:sp>
        <p:nvSpPr>
          <p:cNvPr id="12" name="Text 8"/>
          <p:cNvSpPr/>
          <p:nvPr/>
        </p:nvSpPr>
        <p:spPr>
          <a:xfrm>
            <a:off x="4297680" y="6355080"/>
            <a:ext cx="2926080" cy="411480"/>
          </a:xfrm>
          <a:prstGeom prst="rect">
            <a:avLst/>
          </a:prstGeom>
          <a:noFill/>
          <a:ln/>
        </p:spPr>
        <p:txBody>
          <a:bodyPr wrap="square" rtlCol="0" anchor="ctr"/>
          <a:lstStyle/>
          <a:p>
            <a:pPr marL="0" indent="0">
              <a:lnSpc>
                <a:spcPct val="110000"/>
              </a:lnSpc>
              <a:buNone/>
            </a:pPr>
            <a:r>
              <a:rPr lang="en-US" sz="1250" b="1" dirty="0">
                <a:solidFill>
                  <a:srgbClr val="FFFFFF"/>
                </a:solidFill>
                <a:latin typeface="Liberation Sans" pitchFamily="34" charset="0"/>
                <a:ea typeface="Liberation Sans" pitchFamily="34" charset="-122"/>
                <a:cs typeface="Liberation Sans" pitchFamily="34" charset="-120"/>
              </a:rPr>
              <a:t>Martin Weber</a:t>
            </a:r>
            <a:endParaRPr lang="en-US" sz="1250" dirty="0"/>
          </a:p>
          <a:p>
            <a:pPr marL="0" indent="0">
              <a:lnSpc>
                <a:spcPct val="110000"/>
              </a:lnSpc>
              <a:buNone/>
            </a:pPr>
            <a:r>
              <a:rPr lang="en-US" sz="1000" dirty="0">
                <a:solidFill>
                  <a:srgbClr val="AEB9CC"/>
                </a:solidFill>
                <a:latin typeface="Liberation Sans" pitchFamily="34" charset="0"/>
                <a:ea typeface="Liberation Sans" pitchFamily="34" charset="-122"/>
                <a:cs typeface="Liberation Sans" pitchFamily="34" charset="-120"/>
              </a:rPr>
              <a:t>Strategic Advisor</a:t>
            </a:r>
            <a:endParaRPr lang="en-US" sz="1250" dirty="0"/>
          </a:p>
        </p:txBody>
      </p:sp>
      <p:sp>
        <p:nvSpPr>
          <p:cNvPr id="13" name="Text 9"/>
          <p:cNvSpPr/>
          <p:nvPr/>
        </p:nvSpPr>
        <p:spPr>
          <a:xfrm>
            <a:off x="9722815" y="6419088"/>
            <a:ext cx="1828800" cy="274320"/>
          </a:xfrm>
          <a:prstGeom prst="rect">
            <a:avLst/>
          </a:prstGeom>
          <a:noFill/>
          <a:ln/>
        </p:spPr>
        <p:txBody>
          <a:bodyPr wrap="square" rtlCol="0" anchor="ctr"/>
          <a:lstStyle/>
          <a:p>
            <a:pPr marL="0" indent="0" algn="r">
              <a:buNone/>
            </a:pPr>
            <a:r>
              <a:rPr lang="en-US" sz="950" kern="0" spc="200" dirty="0">
                <a:solidFill>
                  <a:srgbClr val="7C8BA8"/>
                </a:solidFill>
                <a:latin typeface="Liberation Sans" pitchFamily="34" charset="0"/>
                <a:ea typeface="Liberation Sans" pitchFamily="34" charset="-122"/>
                <a:cs typeface="Liberation Sans" pitchFamily="34" charset="-120"/>
              </a:rPr>
              <a:t>AUGUST 2026</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assets/crop_slide2_kingair.jpg"/>
          <p:cNvPicPr>
            <a:picLocks noChangeAspect="1"/>
          </p:cNvPicPr>
          <p:nvPr/>
        </p:nvPicPr>
        <p:blipFill>
          <a:blip r:embed="rId3"/>
          <a:stretch>
            <a:fillRect/>
          </a:stretch>
        </p:blipFill>
        <p:spPr>
          <a:xfrm>
            <a:off x="6263640" y="0"/>
            <a:ext cx="5925312" cy="6858000"/>
          </a:xfrm>
          <a:prstGeom prst="rect">
            <a:avLst/>
          </a:prstGeom>
        </p:spPr>
      </p:pic>
      <p:sp>
        <p:nvSpPr>
          <p:cNvPr id="3" name="Shape 0"/>
          <p:cNvSpPr/>
          <p:nvPr/>
        </p:nvSpPr>
        <p:spPr>
          <a:xfrm>
            <a:off x="6263640" y="0"/>
            <a:ext cx="5925312" cy="6858000"/>
          </a:xfrm>
          <a:prstGeom prst="rect">
            <a:avLst/>
          </a:prstGeom>
          <a:solidFill>
            <a:srgbClr val="0B1626">
              <a:alpha val="22000"/>
            </a:srgbClr>
          </a:solidFill>
          <a:ln/>
        </p:spPr>
        <p:txBody>
          <a:bodyPr/>
          <a:lstStyle/>
          <a:p>
            <a:endParaRPr lang="en-US"/>
          </a:p>
        </p:txBody>
      </p:sp>
      <p:sp>
        <p:nvSpPr>
          <p:cNvPr id="4" name="Text 1"/>
          <p:cNvSpPr/>
          <p:nvPr/>
        </p:nvSpPr>
        <p:spPr>
          <a:xfrm>
            <a:off x="640080" y="548640"/>
            <a:ext cx="5486400" cy="320040"/>
          </a:xfrm>
          <a:prstGeom prst="rect">
            <a:avLst/>
          </a:prstGeom>
          <a:noFill/>
          <a:ln/>
        </p:spPr>
        <p:txBody>
          <a:bodyPr wrap="square" rtlCol="0" anchor="ctr"/>
          <a:lstStyle/>
          <a:p>
            <a:pPr marL="0" indent="0" algn="l">
              <a:buNone/>
            </a:pPr>
            <a:r>
              <a:rPr lang="en-US" sz="1250" b="1" kern="0" spc="240" dirty="0">
                <a:solidFill>
                  <a:srgbClr val="C9A227"/>
                </a:solidFill>
                <a:latin typeface="Liberation Sans" pitchFamily="34" charset="0"/>
                <a:ea typeface="Liberation Sans" pitchFamily="34" charset="-122"/>
                <a:cs typeface="Liberation Sans" pitchFamily="34" charset="-120"/>
              </a:rPr>
              <a:t>BUILDING TRUST SINCE 2017</a:t>
            </a:r>
            <a:endParaRPr lang="en-US" sz="1250" dirty="0"/>
          </a:p>
        </p:txBody>
      </p:sp>
      <p:sp>
        <p:nvSpPr>
          <p:cNvPr id="5" name="Text 2"/>
          <p:cNvSpPr/>
          <p:nvPr/>
        </p:nvSpPr>
        <p:spPr>
          <a:xfrm>
            <a:off x="640080" y="960120"/>
            <a:ext cx="5394960" cy="1280160"/>
          </a:xfrm>
          <a:prstGeom prst="rect">
            <a:avLst/>
          </a:prstGeom>
          <a:noFill/>
          <a:ln/>
        </p:spPr>
        <p:txBody>
          <a:bodyPr wrap="square" rtlCol="0" anchor="ctr"/>
          <a:lstStyle/>
          <a:p>
            <a:pPr marL="0" indent="0">
              <a:lnSpc>
                <a:spcPct val="110000"/>
              </a:lnSpc>
              <a:buNone/>
            </a:pPr>
            <a:r>
              <a:rPr lang="en-US" sz="2600" dirty="0">
                <a:solidFill>
                  <a:srgbClr val="13233D"/>
                </a:solidFill>
                <a:latin typeface="Liberation Serif" pitchFamily="34" charset="0"/>
                <a:ea typeface="Liberation Serif" pitchFamily="34" charset="-122"/>
                <a:cs typeface="Liberation Serif" pitchFamily="34" charset="-120"/>
              </a:rPr>
              <a:t>An Established Airline Built on</a:t>
            </a:r>
            <a:endParaRPr lang="en-US" sz="2600" dirty="0"/>
          </a:p>
          <a:p>
            <a:pPr marL="0" indent="0">
              <a:lnSpc>
                <a:spcPct val="110000"/>
              </a:lnSpc>
              <a:buNone/>
            </a:pPr>
            <a:r>
              <a:rPr lang="en-US" sz="2600" dirty="0">
                <a:solidFill>
                  <a:srgbClr val="13233D"/>
                </a:solidFill>
                <a:latin typeface="Liberation Serif" pitchFamily="34" charset="0"/>
                <a:ea typeface="Liberation Serif" pitchFamily="34" charset="-122"/>
                <a:cs typeface="Liberation Serif" pitchFamily="34" charset="-120"/>
              </a:rPr>
              <a:t>Safety, Reliability and Trust</a:t>
            </a:r>
            <a:endParaRPr lang="en-US" sz="2600" dirty="0"/>
          </a:p>
        </p:txBody>
      </p:sp>
      <p:sp>
        <p:nvSpPr>
          <p:cNvPr id="6" name="Text 3"/>
          <p:cNvSpPr/>
          <p:nvPr/>
        </p:nvSpPr>
        <p:spPr>
          <a:xfrm>
            <a:off x="640080" y="2331720"/>
            <a:ext cx="5394960" cy="914400"/>
          </a:xfrm>
          <a:prstGeom prst="rect">
            <a:avLst/>
          </a:prstGeom>
          <a:noFill/>
          <a:ln/>
        </p:spPr>
        <p:txBody>
          <a:bodyPr wrap="square" rtlCol="0" anchor="ctr"/>
          <a:lstStyle/>
          <a:p>
            <a:pPr marL="0" indent="0">
              <a:lnSpc>
                <a:spcPct val="130000"/>
              </a:lnSpc>
              <a:buNone/>
            </a:pPr>
            <a:r>
              <a:rPr lang="en-US" sz="1250" dirty="0">
                <a:solidFill>
                  <a:srgbClr val="1B2740"/>
                </a:solidFill>
                <a:latin typeface="Liberation Sans" pitchFamily="34" charset="0"/>
                <a:ea typeface="Liberation Sans" pitchFamily="34" charset="-122"/>
                <a:cs typeface="Liberation Sans" pitchFamily="34" charset="-120"/>
              </a:rPr>
              <a:t>Zipline Express was founded with a simple philosophy: provide safe, dependable air transportation that connects the islands of The Bahamas while treating every passenger as if they were family.</a:t>
            </a:r>
            <a:endParaRPr lang="en-US" sz="1250" dirty="0"/>
          </a:p>
        </p:txBody>
      </p:sp>
      <p:sp>
        <p:nvSpPr>
          <p:cNvPr id="7" name="Text 4"/>
          <p:cNvSpPr/>
          <p:nvPr/>
        </p:nvSpPr>
        <p:spPr>
          <a:xfrm>
            <a:off x="640080" y="3246120"/>
            <a:ext cx="5394960" cy="960120"/>
          </a:xfrm>
          <a:prstGeom prst="rect">
            <a:avLst/>
          </a:prstGeom>
          <a:noFill/>
          <a:ln/>
        </p:spPr>
        <p:txBody>
          <a:bodyPr wrap="square" rtlCol="0" anchor="ctr"/>
          <a:lstStyle/>
          <a:p>
            <a:pPr marL="0" indent="0">
              <a:lnSpc>
                <a:spcPct val="130000"/>
              </a:lnSpc>
              <a:buNone/>
            </a:pPr>
            <a:r>
              <a:rPr lang="en-US" sz="1250" dirty="0">
                <a:solidFill>
                  <a:srgbClr val="1B2740"/>
                </a:solidFill>
                <a:latin typeface="Liberation Sans" pitchFamily="34" charset="0"/>
                <a:ea typeface="Liberation Sans" pitchFamily="34" charset="-122"/>
                <a:cs typeface="Liberation Sans" pitchFamily="34" charset="-120"/>
              </a:rPr>
              <a:t>Since 2017, the Company has grown from a single-aircraft charter operator into an established Bahamian commercial aviation company serving residents, businesses, visitors and government agencies throughout the archipelago.</a:t>
            </a:r>
            <a:endParaRPr lang="en-US" sz="1250" dirty="0"/>
          </a:p>
        </p:txBody>
      </p:sp>
      <p:sp>
        <p:nvSpPr>
          <p:cNvPr id="8" name="Text 5"/>
          <p:cNvSpPr/>
          <p:nvPr/>
        </p:nvSpPr>
        <p:spPr>
          <a:xfrm>
            <a:off x="640080" y="4206240"/>
            <a:ext cx="5394960" cy="960120"/>
          </a:xfrm>
          <a:prstGeom prst="rect">
            <a:avLst/>
          </a:prstGeom>
          <a:noFill/>
          <a:ln/>
        </p:spPr>
        <p:txBody>
          <a:bodyPr wrap="square" rtlCol="0" anchor="ctr"/>
          <a:lstStyle/>
          <a:p>
            <a:pPr marL="0" indent="0">
              <a:lnSpc>
                <a:spcPct val="130000"/>
              </a:lnSpc>
              <a:buNone/>
            </a:pPr>
            <a:r>
              <a:rPr lang="en-US" sz="1250" dirty="0">
                <a:solidFill>
                  <a:srgbClr val="1B2740"/>
                </a:solidFill>
                <a:latin typeface="Liberation Sans" pitchFamily="34" charset="0"/>
                <a:ea typeface="Liberation Sans" pitchFamily="34" charset="-122"/>
                <a:cs typeface="Liberation Sans" pitchFamily="34" charset="-120"/>
              </a:rPr>
              <a:t>Rather than pursuing rapid expansion, Zipline has focused on disciplined growth — investing in experienced people, maintaining the highest operational standards, and building long-term customer relationships.</a:t>
            </a:r>
            <a:endParaRPr lang="en-US" sz="1250" dirty="0"/>
          </a:p>
        </p:txBody>
      </p:sp>
      <p:sp>
        <p:nvSpPr>
          <p:cNvPr id="9" name="Shape 6"/>
          <p:cNvSpPr/>
          <p:nvPr/>
        </p:nvSpPr>
        <p:spPr>
          <a:xfrm>
            <a:off x="640080" y="5257800"/>
            <a:ext cx="5394960" cy="1170432"/>
          </a:xfrm>
          <a:prstGeom prst="rect">
            <a:avLst/>
          </a:prstGeom>
          <a:solidFill>
            <a:srgbClr val="F6F7F9"/>
          </a:solidFill>
          <a:ln/>
        </p:spPr>
        <p:txBody>
          <a:bodyPr/>
          <a:lstStyle/>
          <a:p>
            <a:endParaRPr lang="en-US"/>
          </a:p>
        </p:txBody>
      </p:sp>
      <p:sp>
        <p:nvSpPr>
          <p:cNvPr id="10" name="Text 7"/>
          <p:cNvSpPr/>
          <p:nvPr/>
        </p:nvSpPr>
        <p:spPr>
          <a:xfrm>
            <a:off x="896112" y="5358384"/>
            <a:ext cx="4937760" cy="777240"/>
          </a:xfrm>
          <a:prstGeom prst="rect">
            <a:avLst/>
          </a:prstGeom>
          <a:noFill/>
          <a:ln/>
        </p:spPr>
        <p:txBody>
          <a:bodyPr wrap="square" rtlCol="0" anchor="ctr"/>
          <a:lstStyle/>
          <a:p>
            <a:pPr marL="0" indent="0">
              <a:lnSpc>
                <a:spcPct val="125000"/>
              </a:lnSpc>
              <a:buNone/>
            </a:pPr>
            <a:r>
              <a:rPr lang="en-US" sz="1250" i="1" dirty="0">
                <a:solidFill>
                  <a:srgbClr val="13233D"/>
                </a:solidFill>
                <a:latin typeface="Liberation Serif" pitchFamily="34" charset="0"/>
                <a:ea typeface="Liberation Serif" pitchFamily="34" charset="-122"/>
                <a:cs typeface="Liberation Serif" pitchFamily="34" charset="-120"/>
              </a:rPr>
              <a:t>“Our mission has never been simply to fly people from one island to another. It has always been to earn their trust every time they step aboard one of our aircraft.”</a:t>
            </a:r>
            <a:endParaRPr lang="en-US" sz="1250" dirty="0"/>
          </a:p>
        </p:txBody>
      </p:sp>
      <p:sp>
        <p:nvSpPr>
          <p:cNvPr id="11" name="Text 8"/>
          <p:cNvSpPr/>
          <p:nvPr/>
        </p:nvSpPr>
        <p:spPr>
          <a:xfrm>
            <a:off x="896112" y="6126480"/>
            <a:ext cx="4937760" cy="274320"/>
          </a:xfrm>
          <a:prstGeom prst="rect">
            <a:avLst/>
          </a:prstGeom>
          <a:noFill/>
          <a:ln/>
        </p:spPr>
        <p:txBody>
          <a:bodyPr wrap="square" rtlCol="0" anchor="ctr"/>
          <a:lstStyle/>
          <a:p>
            <a:pPr marL="0" indent="0">
              <a:buNone/>
            </a:pPr>
            <a:r>
              <a:rPr lang="en-US" sz="950" dirty="0">
                <a:solidFill>
                  <a:srgbClr val="62708A"/>
                </a:solidFill>
                <a:latin typeface="Liberation Sans" pitchFamily="34" charset="0"/>
                <a:ea typeface="Liberation Sans" pitchFamily="34" charset="-122"/>
                <a:cs typeface="Liberation Sans" pitchFamily="34" charset="-120"/>
              </a:rPr>
              <a:t>— Captain Mornel Brown, Founder &amp; CEO</a:t>
            </a:r>
            <a:endParaRPr lang="en-US" sz="950" dirty="0"/>
          </a:p>
        </p:txBody>
      </p:sp>
      <p:sp>
        <p:nvSpPr>
          <p:cNvPr id="12" name="Text 9"/>
          <p:cNvSpPr/>
          <p:nvPr/>
        </p:nvSpPr>
        <p:spPr>
          <a:xfrm>
            <a:off x="548640" y="6455664"/>
            <a:ext cx="6400800" cy="274320"/>
          </a:xfrm>
          <a:prstGeom prst="rect">
            <a:avLst/>
          </a:prstGeom>
          <a:noFill/>
          <a:ln/>
        </p:spPr>
        <p:txBody>
          <a:bodyPr wrap="square" rtlCol="0" anchor="ctr"/>
          <a:lstStyle/>
          <a:p>
            <a:pPr marL="0" indent="0" algn="l">
              <a:buNone/>
            </a:pPr>
            <a:r>
              <a:rPr lang="en-US" sz="800" kern="0" spc="100" dirty="0">
                <a:solidFill>
                  <a:srgbClr val="9AA3B5"/>
                </a:solidFill>
                <a:latin typeface="Liberation Sans" pitchFamily="34" charset="0"/>
                <a:ea typeface="Liberation Sans" pitchFamily="34" charset="-122"/>
                <a:cs typeface="Liberation Sans" pitchFamily="34" charset="-120"/>
              </a:rPr>
              <a:t>ZIPLINE EXPRESS  ·  CONFIDENTIAL  ·  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rtlCol="0" anchor="ctr"/>
          <a:lstStyle/>
          <a:p>
            <a:pPr marL="0" indent="0" algn="l">
              <a:buNone/>
            </a:pPr>
            <a:r>
              <a:rPr lang="en-US" sz="1250" b="1" kern="0" spc="240" dirty="0">
                <a:solidFill>
                  <a:srgbClr val="C9A227"/>
                </a:solidFill>
                <a:latin typeface="Liberation Sans" pitchFamily="34" charset="0"/>
                <a:ea typeface="Liberation Sans" pitchFamily="34" charset="-122"/>
                <a:cs typeface="Liberation Sans" pitchFamily="34" charset="-120"/>
              </a:rPr>
              <a:t>THE OPPORTUNITY</a:t>
            </a:r>
            <a:endParaRPr lang="en-US" sz="1250" dirty="0"/>
          </a:p>
        </p:txBody>
      </p:sp>
      <p:sp>
        <p:nvSpPr>
          <p:cNvPr id="3" name="Text 1"/>
          <p:cNvSpPr/>
          <p:nvPr/>
        </p:nvSpPr>
        <p:spPr>
          <a:xfrm>
            <a:off x="640080" y="868680"/>
            <a:ext cx="6035040" cy="640080"/>
          </a:xfrm>
          <a:prstGeom prst="rect">
            <a:avLst/>
          </a:prstGeom>
          <a:noFill/>
          <a:ln/>
        </p:spPr>
        <p:txBody>
          <a:bodyPr wrap="square" rtlCol="0" anchor="ctr"/>
          <a:lstStyle/>
          <a:p>
            <a:pPr marL="0" indent="0">
              <a:buNone/>
            </a:pPr>
            <a:r>
              <a:rPr lang="en-US" sz="3000" dirty="0">
                <a:solidFill>
                  <a:srgbClr val="13233D"/>
                </a:solidFill>
                <a:latin typeface="Liberation Serif" pitchFamily="34" charset="0"/>
                <a:ea typeface="Liberation Serif" pitchFamily="34" charset="-122"/>
                <a:cs typeface="Liberation Serif" pitchFamily="34" charset="-120"/>
              </a:rPr>
              <a:t>A Rare Opportunity</a:t>
            </a:r>
            <a:endParaRPr lang="en-US" sz="3000" dirty="0"/>
          </a:p>
        </p:txBody>
      </p:sp>
      <p:sp>
        <p:nvSpPr>
          <p:cNvPr id="4" name="Text 2"/>
          <p:cNvSpPr/>
          <p:nvPr/>
        </p:nvSpPr>
        <p:spPr>
          <a:xfrm>
            <a:off x="640080" y="1645920"/>
            <a:ext cx="5349240" cy="1280160"/>
          </a:xfrm>
          <a:prstGeom prst="rect">
            <a:avLst/>
          </a:prstGeom>
          <a:noFill/>
          <a:ln/>
        </p:spPr>
        <p:txBody>
          <a:bodyPr wrap="square" rtlCol="0" anchor="ctr"/>
          <a:lstStyle/>
          <a:p>
            <a:pPr marL="0" indent="0">
              <a:lnSpc>
                <a:spcPct val="132000"/>
              </a:lnSpc>
              <a:buNone/>
            </a:pPr>
            <a:r>
              <a:rPr lang="en-US" sz="1250" dirty="0">
                <a:solidFill>
                  <a:srgbClr val="1B2740"/>
                </a:solidFill>
                <a:latin typeface="Liberation Sans" pitchFamily="34" charset="0"/>
                <a:ea typeface="Liberation Sans" pitchFamily="34" charset="-122"/>
                <a:cs typeface="Liberation Sans" pitchFamily="34" charset="-120"/>
              </a:rPr>
              <a:t>The Bahamian aviation market is undergoing one of its most significant transitions in decades. Recent changes among regional operators have created an opportunity to restore scheduled passenger service on routes that remain vital to residents, businesses and visitors.</a:t>
            </a:r>
            <a:endParaRPr lang="en-US" sz="1250" dirty="0"/>
          </a:p>
        </p:txBody>
      </p:sp>
      <p:sp>
        <p:nvSpPr>
          <p:cNvPr id="5" name="Shape 3"/>
          <p:cNvSpPr/>
          <p:nvPr/>
        </p:nvSpPr>
        <p:spPr>
          <a:xfrm>
            <a:off x="640080" y="3145536"/>
            <a:ext cx="146304" cy="146304"/>
          </a:xfrm>
          <a:prstGeom prst="rect">
            <a:avLst/>
          </a:prstGeom>
          <a:solidFill>
            <a:srgbClr val="C9A227"/>
          </a:solidFill>
          <a:ln/>
        </p:spPr>
        <p:txBody>
          <a:bodyPr/>
          <a:lstStyle/>
          <a:p>
            <a:endParaRPr lang="en-US"/>
          </a:p>
        </p:txBody>
      </p:sp>
      <p:sp>
        <p:nvSpPr>
          <p:cNvPr id="6" name="Text 4"/>
          <p:cNvSpPr/>
          <p:nvPr/>
        </p:nvSpPr>
        <p:spPr>
          <a:xfrm>
            <a:off x="932688" y="3063240"/>
            <a:ext cx="5029200" cy="310896"/>
          </a:xfrm>
          <a:prstGeom prst="rect">
            <a:avLst/>
          </a:prstGeom>
          <a:noFill/>
          <a:ln/>
        </p:spPr>
        <p:txBody>
          <a:bodyPr wrap="square" rtlCol="0" anchor="ctr"/>
          <a:lstStyle/>
          <a:p>
            <a:pPr marL="0" indent="0">
              <a:buNone/>
            </a:pPr>
            <a:r>
              <a:rPr lang="en-US" sz="1250" b="1" dirty="0">
                <a:solidFill>
                  <a:srgbClr val="13233D"/>
                </a:solidFill>
                <a:latin typeface="Liberation Sans" pitchFamily="34" charset="0"/>
                <a:ea typeface="Liberation Sans" pitchFamily="34" charset="-122"/>
                <a:cs typeface="Liberation Sans" pitchFamily="34" charset="-120"/>
              </a:rPr>
              <a:t>Communities still require dependable air transportation.</a:t>
            </a:r>
            <a:endParaRPr lang="en-US" sz="1250" dirty="0"/>
          </a:p>
        </p:txBody>
      </p:sp>
      <p:sp>
        <p:nvSpPr>
          <p:cNvPr id="7" name="Shape 5"/>
          <p:cNvSpPr/>
          <p:nvPr/>
        </p:nvSpPr>
        <p:spPr>
          <a:xfrm>
            <a:off x="640080" y="3547872"/>
            <a:ext cx="146304" cy="146304"/>
          </a:xfrm>
          <a:prstGeom prst="rect">
            <a:avLst/>
          </a:prstGeom>
          <a:solidFill>
            <a:srgbClr val="C9A227"/>
          </a:solidFill>
          <a:ln/>
        </p:spPr>
        <p:txBody>
          <a:bodyPr/>
          <a:lstStyle/>
          <a:p>
            <a:endParaRPr lang="en-US"/>
          </a:p>
        </p:txBody>
      </p:sp>
      <p:sp>
        <p:nvSpPr>
          <p:cNvPr id="8" name="Text 6"/>
          <p:cNvSpPr/>
          <p:nvPr/>
        </p:nvSpPr>
        <p:spPr>
          <a:xfrm>
            <a:off x="932688" y="3465576"/>
            <a:ext cx="5029200" cy="310896"/>
          </a:xfrm>
          <a:prstGeom prst="rect">
            <a:avLst/>
          </a:prstGeom>
          <a:noFill/>
          <a:ln/>
        </p:spPr>
        <p:txBody>
          <a:bodyPr wrap="square" rtlCol="0" anchor="ctr"/>
          <a:lstStyle/>
          <a:p>
            <a:pPr marL="0" indent="0">
              <a:buNone/>
            </a:pPr>
            <a:r>
              <a:rPr lang="en-US" sz="1250" b="1" dirty="0">
                <a:solidFill>
                  <a:srgbClr val="13233D"/>
                </a:solidFill>
                <a:latin typeface="Liberation Sans" pitchFamily="34" charset="0"/>
                <a:ea typeface="Liberation Sans" pitchFamily="34" charset="-122"/>
                <a:cs typeface="Liberation Sans" pitchFamily="34" charset="-120"/>
              </a:rPr>
              <a:t>Tourism continues to grow.</a:t>
            </a:r>
            <a:endParaRPr lang="en-US" sz="1250" dirty="0"/>
          </a:p>
        </p:txBody>
      </p:sp>
      <p:sp>
        <p:nvSpPr>
          <p:cNvPr id="9" name="Shape 7"/>
          <p:cNvSpPr/>
          <p:nvPr/>
        </p:nvSpPr>
        <p:spPr>
          <a:xfrm>
            <a:off x="640080" y="3950208"/>
            <a:ext cx="146304" cy="146304"/>
          </a:xfrm>
          <a:prstGeom prst="rect">
            <a:avLst/>
          </a:prstGeom>
          <a:solidFill>
            <a:srgbClr val="C9A227"/>
          </a:solidFill>
          <a:ln/>
        </p:spPr>
        <p:txBody>
          <a:bodyPr/>
          <a:lstStyle/>
          <a:p>
            <a:endParaRPr lang="en-US"/>
          </a:p>
        </p:txBody>
      </p:sp>
      <p:sp>
        <p:nvSpPr>
          <p:cNvPr id="10" name="Text 8"/>
          <p:cNvSpPr/>
          <p:nvPr/>
        </p:nvSpPr>
        <p:spPr>
          <a:xfrm>
            <a:off x="932688" y="3867912"/>
            <a:ext cx="5029200" cy="310896"/>
          </a:xfrm>
          <a:prstGeom prst="rect">
            <a:avLst/>
          </a:prstGeom>
          <a:noFill/>
          <a:ln/>
        </p:spPr>
        <p:txBody>
          <a:bodyPr wrap="square" rtlCol="0" anchor="ctr"/>
          <a:lstStyle/>
          <a:p>
            <a:pPr marL="0" indent="0">
              <a:buNone/>
            </a:pPr>
            <a:r>
              <a:rPr lang="en-US" sz="1250" b="1" dirty="0">
                <a:solidFill>
                  <a:srgbClr val="13233D"/>
                </a:solidFill>
                <a:latin typeface="Liberation Sans" pitchFamily="34" charset="0"/>
                <a:ea typeface="Liberation Sans" pitchFamily="34" charset="-122"/>
                <a:cs typeface="Liberation Sans" pitchFamily="34" charset="-120"/>
              </a:rPr>
              <a:t>Businesses still depend on reliable regional connectivity.</a:t>
            </a:r>
            <a:endParaRPr lang="en-US" sz="1250" dirty="0"/>
          </a:p>
        </p:txBody>
      </p:sp>
      <p:sp>
        <p:nvSpPr>
          <p:cNvPr id="11" name="Text 9"/>
          <p:cNvSpPr/>
          <p:nvPr/>
        </p:nvSpPr>
        <p:spPr>
          <a:xfrm>
            <a:off x="640080" y="4407408"/>
            <a:ext cx="5349240" cy="548640"/>
          </a:xfrm>
          <a:prstGeom prst="rect">
            <a:avLst/>
          </a:prstGeom>
          <a:noFill/>
          <a:ln/>
        </p:spPr>
        <p:txBody>
          <a:bodyPr wrap="square" rtlCol="0" anchor="ctr"/>
          <a:lstStyle/>
          <a:p>
            <a:pPr marL="0" indent="0">
              <a:buNone/>
            </a:pPr>
            <a:r>
              <a:rPr lang="en-US" sz="1450" i="1" dirty="0">
                <a:solidFill>
                  <a:srgbClr val="13233D"/>
                </a:solidFill>
                <a:latin typeface="Liberation Serif" pitchFamily="34" charset="0"/>
                <a:ea typeface="Liberation Serif" pitchFamily="34" charset="-122"/>
                <a:cs typeface="Liberation Serif" pitchFamily="34" charset="-120"/>
              </a:rPr>
              <a:t>The need has not disappeared. Only the available capacity has.</a:t>
            </a:r>
            <a:endParaRPr lang="en-US" sz="1450" dirty="0"/>
          </a:p>
        </p:txBody>
      </p:sp>
      <p:sp>
        <p:nvSpPr>
          <p:cNvPr id="12" name="Text 10"/>
          <p:cNvSpPr/>
          <p:nvPr/>
        </p:nvSpPr>
        <p:spPr>
          <a:xfrm>
            <a:off x="640080" y="5047488"/>
            <a:ext cx="5349240" cy="320040"/>
          </a:xfrm>
          <a:prstGeom prst="rect">
            <a:avLst/>
          </a:prstGeom>
          <a:noFill/>
          <a:ln/>
        </p:spPr>
        <p:txBody>
          <a:bodyPr wrap="square" rtlCol="0" anchor="ctr"/>
          <a:lstStyle/>
          <a:p>
            <a:pPr marL="0" indent="0">
              <a:buNone/>
            </a:pPr>
            <a:r>
              <a:rPr lang="en-US" sz="1300" b="1" dirty="0">
                <a:solidFill>
                  <a:srgbClr val="C9A227"/>
                </a:solidFill>
                <a:latin typeface="Liberation Sans" pitchFamily="34" charset="0"/>
                <a:ea typeface="Liberation Sans" pitchFamily="34" charset="-122"/>
                <a:cs typeface="Liberation Sans" pitchFamily="34" charset="-120"/>
              </a:rPr>
              <a:t>Zipline Express is uniquely positioned to respond.</a:t>
            </a:r>
            <a:endParaRPr lang="en-US" sz="1300" dirty="0"/>
          </a:p>
        </p:txBody>
      </p:sp>
      <p:pic>
        <p:nvPicPr>
          <p:cNvPr id="13" name="Image 0" descr="assets/routemap.png"/>
          <p:cNvPicPr>
            <a:picLocks noChangeAspect="1"/>
          </p:cNvPicPr>
          <p:nvPr/>
        </p:nvPicPr>
        <p:blipFill>
          <a:blip r:embed="rId3"/>
          <a:stretch>
            <a:fillRect/>
          </a:stretch>
        </p:blipFill>
        <p:spPr>
          <a:xfrm>
            <a:off x="6263640" y="502920"/>
            <a:ext cx="5577840" cy="5349240"/>
          </a:xfrm>
          <a:prstGeom prst="rect">
            <a:avLst/>
          </a:prstGeom>
        </p:spPr>
      </p:pic>
      <p:sp>
        <p:nvSpPr>
          <p:cNvPr id="14" name="Shape 11"/>
          <p:cNvSpPr/>
          <p:nvPr/>
        </p:nvSpPr>
        <p:spPr>
          <a:xfrm>
            <a:off x="640080" y="5742432"/>
            <a:ext cx="10927080" cy="12802"/>
          </a:xfrm>
          <a:prstGeom prst="rect">
            <a:avLst/>
          </a:prstGeom>
          <a:solidFill>
            <a:srgbClr val="DCE0E8"/>
          </a:solidFill>
          <a:ln/>
        </p:spPr>
        <p:txBody>
          <a:bodyPr/>
          <a:lstStyle/>
          <a:p>
            <a:endParaRPr lang="en-US"/>
          </a:p>
        </p:txBody>
      </p:sp>
      <p:sp>
        <p:nvSpPr>
          <p:cNvPr id="15" name="Text 12"/>
          <p:cNvSpPr/>
          <p:nvPr/>
        </p:nvSpPr>
        <p:spPr>
          <a:xfrm>
            <a:off x="640080" y="5888736"/>
            <a:ext cx="3459480" cy="256032"/>
          </a:xfrm>
          <a:prstGeom prst="rect">
            <a:avLst/>
          </a:prstGeom>
          <a:noFill/>
          <a:ln/>
        </p:spPr>
        <p:txBody>
          <a:bodyPr wrap="square" rtlCol="0" anchor="ctr"/>
          <a:lstStyle/>
          <a:p>
            <a:pPr marL="0" indent="0">
              <a:buNone/>
            </a:pPr>
            <a:r>
              <a:rPr lang="en-US" sz="950" dirty="0">
                <a:solidFill>
                  <a:srgbClr val="62708A"/>
                </a:solidFill>
                <a:latin typeface="Liberation Sans" pitchFamily="34" charset="0"/>
                <a:ea typeface="Liberation Sans" pitchFamily="34" charset="-122"/>
                <a:cs typeface="Liberation Sans" pitchFamily="34" charset="-120"/>
              </a:rPr>
              <a:t>•  Established operating history</a:t>
            </a:r>
            <a:endParaRPr lang="en-US" sz="950" dirty="0"/>
          </a:p>
        </p:txBody>
      </p:sp>
      <p:sp>
        <p:nvSpPr>
          <p:cNvPr id="16" name="Text 13"/>
          <p:cNvSpPr/>
          <p:nvPr/>
        </p:nvSpPr>
        <p:spPr>
          <a:xfrm>
            <a:off x="4282440" y="5888736"/>
            <a:ext cx="3459480" cy="256032"/>
          </a:xfrm>
          <a:prstGeom prst="rect">
            <a:avLst/>
          </a:prstGeom>
          <a:noFill/>
          <a:ln/>
        </p:spPr>
        <p:txBody>
          <a:bodyPr wrap="square" rtlCol="0" anchor="ctr"/>
          <a:lstStyle/>
          <a:p>
            <a:pPr marL="0" indent="0">
              <a:buNone/>
            </a:pPr>
            <a:r>
              <a:rPr lang="en-US" sz="950" dirty="0">
                <a:solidFill>
                  <a:srgbClr val="62708A"/>
                </a:solidFill>
                <a:latin typeface="Liberation Sans" pitchFamily="34" charset="0"/>
                <a:ea typeface="Liberation Sans" pitchFamily="34" charset="-122"/>
                <a:cs typeface="Liberation Sans" pitchFamily="34" charset="-120"/>
              </a:rPr>
              <a:t>•  Existing commercial operations</a:t>
            </a:r>
            <a:endParaRPr lang="en-US" sz="950" dirty="0"/>
          </a:p>
        </p:txBody>
      </p:sp>
      <p:sp>
        <p:nvSpPr>
          <p:cNvPr id="17" name="Text 14"/>
          <p:cNvSpPr/>
          <p:nvPr/>
        </p:nvSpPr>
        <p:spPr>
          <a:xfrm>
            <a:off x="7924800" y="5888736"/>
            <a:ext cx="3459480" cy="256032"/>
          </a:xfrm>
          <a:prstGeom prst="rect">
            <a:avLst/>
          </a:prstGeom>
          <a:noFill/>
          <a:ln/>
        </p:spPr>
        <p:txBody>
          <a:bodyPr wrap="square" rtlCol="0" anchor="ctr"/>
          <a:lstStyle/>
          <a:p>
            <a:pPr marL="0" indent="0">
              <a:buNone/>
            </a:pPr>
            <a:r>
              <a:rPr lang="en-US" sz="950" dirty="0">
                <a:solidFill>
                  <a:srgbClr val="62708A"/>
                </a:solidFill>
                <a:latin typeface="Liberation Sans" pitchFamily="34" charset="0"/>
                <a:ea typeface="Liberation Sans" pitchFamily="34" charset="-122"/>
                <a:cs typeface="Liberation Sans" pitchFamily="34" charset="-120"/>
              </a:rPr>
              <a:t>•  Experienced management</a:t>
            </a:r>
            <a:endParaRPr lang="en-US" sz="950" dirty="0"/>
          </a:p>
        </p:txBody>
      </p:sp>
      <p:sp>
        <p:nvSpPr>
          <p:cNvPr id="18" name="Text 15"/>
          <p:cNvSpPr/>
          <p:nvPr/>
        </p:nvSpPr>
        <p:spPr>
          <a:xfrm>
            <a:off x="640080" y="6163056"/>
            <a:ext cx="3459480" cy="256032"/>
          </a:xfrm>
          <a:prstGeom prst="rect">
            <a:avLst/>
          </a:prstGeom>
          <a:noFill/>
          <a:ln/>
        </p:spPr>
        <p:txBody>
          <a:bodyPr wrap="square" rtlCol="0" anchor="ctr"/>
          <a:lstStyle/>
          <a:p>
            <a:pPr marL="0" indent="0">
              <a:buNone/>
            </a:pPr>
            <a:r>
              <a:rPr lang="en-US" sz="950" dirty="0">
                <a:solidFill>
                  <a:srgbClr val="62708A"/>
                </a:solidFill>
                <a:latin typeface="Liberation Sans" pitchFamily="34" charset="0"/>
                <a:ea typeface="Liberation Sans" pitchFamily="34" charset="-122"/>
                <a:cs typeface="Liberation Sans" pitchFamily="34" charset="-120"/>
              </a:rPr>
              <a:t>•  Government operating approvals</a:t>
            </a:r>
            <a:endParaRPr lang="en-US" sz="950" dirty="0"/>
          </a:p>
        </p:txBody>
      </p:sp>
      <p:sp>
        <p:nvSpPr>
          <p:cNvPr id="19" name="Text 16"/>
          <p:cNvSpPr/>
          <p:nvPr/>
        </p:nvSpPr>
        <p:spPr>
          <a:xfrm>
            <a:off x="4282440" y="6163056"/>
            <a:ext cx="3459480" cy="256032"/>
          </a:xfrm>
          <a:prstGeom prst="rect">
            <a:avLst/>
          </a:prstGeom>
          <a:noFill/>
          <a:ln/>
        </p:spPr>
        <p:txBody>
          <a:bodyPr wrap="square" rtlCol="0" anchor="ctr"/>
          <a:lstStyle/>
          <a:p>
            <a:pPr marL="0" indent="0">
              <a:buNone/>
            </a:pPr>
            <a:r>
              <a:rPr lang="en-US" sz="950" dirty="0">
                <a:solidFill>
                  <a:srgbClr val="62708A"/>
                </a:solidFill>
                <a:latin typeface="Liberation Sans" pitchFamily="34" charset="0"/>
                <a:ea typeface="Liberation Sans" pitchFamily="34" charset="-122"/>
                <a:cs typeface="Liberation Sans" pitchFamily="34" charset="-120"/>
              </a:rPr>
              <a:t>•  Existing maintenance relationships</a:t>
            </a:r>
            <a:endParaRPr lang="en-US" sz="950" dirty="0"/>
          </a:p>
        </p:txBody>
      </p:sp>
      <p:sp>
        <p:nvSpPr>
          <p:cNvPr id="20" name="Text 17"/>
          <p:cNvSpPr/>
          <p:nvPr/>
        </p:nvSpPr>
        <p:spPr>
          <a:xfrm>
            <a:off x="7924800" y="6163056"/>
            <a:ext cx="3459480" cy="256032"/>
          </a:xfrm>
          <a:prstGeom prst="rect">
            <a:avLst/>
          </a:prstGeom>
          <a:noFill/>
          <a:ln/>
        </p:spPr>
        <p:txBody>
          <a:bodyPr wrap="square" rtlCol="0" anchor="ctr"/>
          <a:lstStyle/>
          <a:p>
            <a:pPr marL="0" indent="0">
              <a:buNone/>
            </a:pPr>
            <a:r>
              <a:rPr lang="en-US" sz="950" dirty="0">
                <a:solidFill>
                  <a:srgbClr val="62708A"/>
                </a:solidFill>
                <a:latin typeface="Liberation Sans" pitchFamily="34" charset="0"/>
                <a:ea typeface="Liberation Sans" pitchFamily="34" charset="-122"/>
                <a:cs typeface="Liberation Sans" pitchFamily="34" charset="-120"/>
              </a:rPr>
              <a:t>•  Proven financial discipline</a:t>
            </a:r>
            <a:endParaRPr lang="en-US" sz="950" dirty="0"/>
          </a:p>
        </p:txBody>
      </p:sp>
      <p:sp>
        <p:nvSpPr>
          <p:cNvPr id="21" name="Text 18"/>
          <p:cNvSpPr/>
          <p:nvPr/>
        </p:nvSpPr>
        <p:spPr>
          <a:xfrm>
            <a:off x="548640" y="6455664"/>
            <a:ext cx="6400800" cy="274320"/>
          </a:xfrm>
          <a:prstGeom prst="rect">
            <a:avLst/>
          </a:prstGeom>
          <a:noFill/>
          <a:ln/>
        </p:spPr>
        <p:txBody>
          <a:bodyPr wrap="square" rtlCol="0" anchor="ctr"/>
          <a:lstStyle/>
          <a:p>
            <a:pPr marL="0" indent="0" algn="l">
              <a:buNone/>
            </a:pPr>
            <a:r>
              <a:rPr lang="en-US" sz="800" kern="0" spc="100" dirty="0">
                <a:solidFill>
                  <a:srgbClr val="9AA3B5"/>
                </a:solidFill>
                <a:latin typeface="Liberation Sans" pitchFamily="34" charset="0"/>
                <a:ea typeface="Liberation Sans" pitchFamily="34" charset="-122"/>
                <a:cs typeface="Liberation Sans" pitchFamily="34" charset="-120"/>
              </a:rPr>
              <a:t>ZIPLINE EXPRESS  ·  CONFIDENTIAL  ·  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626"/>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rtlCol="0" anchor="ctr"/>
          <a:lstStyle/>
          <a:p>
            <a:pPr marL="0" indent="0" algn="l">
              <a:buNone/>
            </a:pPr>
            <a:r>
              <a:rPr lang="en-US" sz="1250" b="1" kern="0" spc="240" dirty="0">
                <a:solidFill>
                  <a:srgbClr val="C9A227"/>
                </a:solidFill>
                <a:latin typeface="Liberation Sans" pitchFamily="34" charset="0"/>
                <a:ea typeface="Liberation Sans" pitchFamily="34" charset="-122"/>
                <a:cs typeface="Liberation Sans" pitchFamily="34" charset="-120"/>
              </a:rPr>
              <a:t>WHY ZIPLINE</a:t>
            </a:r>
            <a:endParaRPr lang="en-US" sz="1250" dirty="0"/>
          </a:p>
        </p:txBody>
      </p:sp>
      <p:sp>
        <p:nvSpPr>
          <p:cNvPr id="3" name="Text 1"/>
          <p:cNvSpPr/>
          <p:nvPr/>
        </p:nvSpPr>
        <p:spPr>
          <a:xfrm>
            <a:off x="640080" y="868680"/>
            <a:ext cx="8229600" cy="640080"/>
          </a:xfrm>
          <a:prstGeom prst="rect">
            <a:avLst/>
          </a:prstGeom>
          <a:noFill/>
          <a:ln/>
        </p:spPr>
        <p:txBody>
          <a:bodyPr wrap="square" rtlCol="0" anchor="ctr"/>
          <a:lstStyle/>
          <a:p>
            <a:pPr marL="0" indent="0">
              <a:buNone/>
            </a:pPr>
            <a:r>
              <a:rPr lang="en-US" sz="2800" dirty="0">
                <a:solidFill>
                  <a:srgbClr val="FFFFFF"/>
                </a:solidFill>
                <a:latin typeface="Liberation Serif" pitchFamily="34" charset="0"/>
                <a:ea typeface="Liberation Serif" pitchFamily="34" charset="-122"/>
                <a:cs typeface="Liberation Serif" pitchFamily="34" charset="-120"/>
              </a:rPr>
              <a:t>Built on a Proven Foundation</a:t>
            </a:r>
            <a:endParaRPr lang="en-US" sz="2800" dirty="0"/>
          </a:p>
        </p:txBody>
      </p:sp>
      <p:sp>
        <p:nvSpPr>
          <p:cNvPr id="4" name="Shape 2"/>
          <p:cNvSpPr/>
          <p:nvPr/>
        </p:nvSpPr>
        <p:spPr>
          <a:xfrm>
            <a:off x="640080" y="1828800"/>
            <a:ext cx="3444240" cy="1965960"/>
          </a:xfrm>
          <a:prstGeom prst="rect">
            <a:avLst/>
          </a:prstGeom>
          <a:solidFill>
            <a:srgbClr val="1E3355"/>
          </a:solidFill>
          <a:ln/>
        </p:spPr>
        <p:txBody>
          <a:bodyPr/>
          <a:lstStyle/>
          <a:p>
            <a:endParaRPr lang="en-US"/>
          </a:p>
        </p:txBody>
      </p:sp>
      <p:sp>
        <p:nvSpPr>
          <p:cNvPr id="5" name="Shape 3"/>
          <p:cNvSpPr/>
          <p:nvPr/>
        </p:nvSpPr>
        <p:spPr>
          <a:xfrm>
            <a:off x="640080" y="1828800"/>
            <a:ext cx="457200" cy="54864"/>
          </a:xfrm>
          <a:prstGeom prst="rect">
            <a:avLst/>
          </a:prstGeom>
          <a:solidFill>
            <a:srgbClr val="C9A227"/>
          </a:solidFill>
          <a:ln/>
        </p:spPr>
        <p:txBody>
          <a:bodyPr/>
          <a:lstStyle/>
          <a:p>
            <a:endParaRPr lang="en-US"/>
          </a:p>
        </p:txBody>
      </p:sp>
      <p:sp>
        <p:nvSpPr>
          <p:cNvPr id="6" name="Text 4"/>
          <p:cNvSpPr/>
          <p:nvPr/>
        </p:nvSpPr>
        <p:spPr>
          <a:xfrm>
            <a:off x="896112" y="2066544"/>
            <a:ext cx="2987040" cy="274320"/>
          </a:xfrm>
          <a:prstGeom prst="rect">
            <a:avLst/>
          </a:prstGeom>
          <a:noFill/>
          <a:ln/>
        </p:spPr>
        <p:txBody>
          <a:bodyPr wrap="square" rtlCol="0" anchor="ctr"/>
          <a:lstStyle/>
          <a:p>
            <a:pPr marL="0" indent="0">
              <a:buNone/>
            </a:pPr>
            <a:r>
              <a:rPr lang="en-US" sz="1050" b="1" kern="0" spc="160" dirty="0">
                <a:solidFill>
                  <a:srgbClr val="E8CD73"/>
                </a:solidFill>
                <a:latin typeface="Liberation Sans" pitchFamily="34" charset="0"/>
                <a:ea typeface="Liberation Sans" pitchFamily="34" charset="-122"/>
                <a:cs typeface="Liberation Sans" pitchFamily="34" charset="-120"/>
              </a:rPr>
              <a:t>ESTABLISHED</a:t>
            </a:r>
            <a:endParaRPr lang="en-US" sz="1050" dirty="0"/>
          </a:p>
        </p:txBody>
      </p:sp>
      <p:sp>
        <p:nvSpPr>
          <p:cNvPr id="7" name="Text 5"/>
          <p:cNvSpPr/>
          <p:nvPr/>
        </p:nvSpPr>
        <p:spPr>
          <a:xfrm>
            <a:off x="896112" y="2395728"/>
            <a:ext cx="2987040" cy="777240"/>
          </a:xfrm>
          <a:prstGeom prst="rect">
            <a:avLst/>
          </a:prstGeom>
          <a:noFill/>
          <a:ln/>
        </p:spPr>
        <p:txBody>
          <a:bodyPr wrap="square" rtlCol="0" anchor="t"/>
          <a:lstStyle/>
          <a:p>
            <a:pPr marL="0" indent="0">
              <a:buNone/>
            </a:pPr>
            <a:r>
              <a:rPr lang="en-US" sz="3000" dirty="0">
                <a:solidFill>
                  <a:srgbClr val="FFFFFF"/>
                </a:solidFill>
                <a:latin typeface="Liberation Serif" pitchFamily="34" charset="0"/>
                <a:ea typeface="Liberation Serif" pitchFamily="34" charset="-122"/>
                <a:cs typeface="Liberation Serif" pitchFamily="34" charset="-120"/>
              </a:rPr>
              <a:t>2017</a:t>
            </a:r>
            <a:endParaRPr lang="en-US" sz="3000" dirty="0"/>
          </a:p>
        </p:txBody>
      </p:sp>
      <p:sp>
        <p:nvSpPr>
          <p:cNvPr id="8" name="Text 6"/>
          <p:cNvSpPr/>
          <p:nvPr/>
        </p:nvSpPr>
        <p:spPr>
          <a:xfrm>
            <a:off x="896112" y="3200400"/>
            <a:ext cx="2987040" cy="502920"/>
          </a:xfrm>
          <a:prstGeom prst="rect">
            <a:avLst/>
          </a:prstGeom>
          <a:noFill/>
          <a:ln/>
        </p:spPr>
        <p:txBody>
          <a:bodyPr wrap="square" rtlCol="0" anchor="ctr"/>
          <a:lstStyle/>
          <a:p>
            <a:pPr marL="0" indent="0">
              <a:lnSpc>
                <a:spcPct val="115000"/>
              </a:lnSpc>
              <a:buNone/>
            </a:pPr>
            <a:r>
              <a:rPr lang="en-US" sz="1050" dirty="0">
                <a:solidFill>
                  <a:srgbClr val="AEB9CC"/>
                </a:solidFill>
                <a:latin typeface="Liberation Sans" pitchFamily="34" charset="0"/>
                <a:ea typeface="Liberation Sans" pitchFamily="34" charset="-122"/>
                <a:cs typeface="Liberation Sans" pitchFamily="34" charset="-120"/>
              </a:rPr>
              <a:t>Operating since</a:t>
            </a:r>
            <a:endParaRPr lang="en-US" sz="1050" dirty="0"/>
          </a:p>
        </p:txBody>
      </p:sp>
      <p:sp>
        <p:nvSpPr>
          <p:cNvPr id="9" name="Shape 7"/>
          <p:cNvSpPr/>
          <p:nvPr/>
        </p:nvSpPr>
        <p:spPr>
          <a:xfrm>
            <a:off x="4404360" y="1828800"/>
            <a:ext cx="3444240" cy="1965960"/>
          </a:xfrm>
          <a:prstGeom prst="rect">
            <a:avLst/>
          </a:prstGeom>
          <a:solidFill>
            <a:srgbClr val="1E3355"/>
          </a:solidFill>
          <a:ln/>
        </p:spPr>
        <p:txBody>
          <a:bodyPr/>
          <a:lstStyle/>
          <a:p>
            <a:endParaRPr lang="en-US"/>
          </a:p>
        </p:txBody>
      </p:sp>
      <p:sp>
        <p:nvSpPr>
          <p:cNvPr id="10" name="Shape 8"/>
          <p:cNvSpPr/>
          <p:nvPr/>
        </p:nvSpPr>
        <p:spPr>
          <a:xfrm>
            <a:off x="4404360" y="1828800"/>
            <a:ext cx="457200" cy="54864"/>
          </a:xfrm>
          <a:prstGeom prst="rect">
            <a:avLst/>
          </a:prstGeom>
          <a:solidFill>
            <a:srgbClr val="C9A227"/>
          </a:solidFill>
          <a:ln/>
        </p:spPr>
        <p:txBody>
          <a:bodyPr/>
          <a:lstStyle/>
          <a:p>
            <a:endParaRPr lang="en-US"/>
          </a:p>
        </p:txBody>
      </p:sp>
      <p:sp>
        <p:nvSpPr>
          <p:cNvPr id="11" name="Text 9"/>
          <p:cNvSpPr/>
          <p:nvPr/>
        </p:nvSpPr>
        <p:spPr>
          <a:xfrm>
            <a:off x="4660392" y="2066544"/>
            <a:ext cx="2987040" cy="274320"/>
          </a:xfrm>
          <a:prstGeom prst="rect">
            <a:avLst/>
          </a:prstGeom>
          <a:noFill/>
          <a:ln/>
        </p:spPr>
        <p:txBody>
          <a:bodyPr wrap="square" rtlCol="0" anchor="ctr"/>
          <a:lstStyle/>
          <a:p>
            <a:pPr marL="0" indent="0">
              <a:buNone/>
            </a:pPr>
            <a:r>
              <a:rPr lang="en-US" sz="1050" b="1" kern="0" spc="160" dirty="0">
                <a:solidFill>
                  <a:srgbClr val="E8CD73"/>
                </a:solidFill>
                <a:latin typeface="Liberation Sans" pitchFamily="34" charset="0"/>
                <a:ea typeface="Liberation Sans" pitchFamily="34" charset="-122"/>
                <a:cs typeface="Liberation Sans" pitchFamily="34" charset="-120"/>
              </a:rPr>
              <a:t>PROVEN</a:t>
            </a:r>
            <a:endParaRPr lang="en-US" sz="1050" dirty="0"/>
          </a:p>
        </p:txBody>
      </p:sp>
      <p:sp>
        <p:nvSpPr>
          <p:cNvPr id="12" name="Text 10"/>
          <p:cNvSpPr/>
          <p:nvPr/>
        </p:nvSpPr>
        <p:spPr>
          <a:xfrm>
            <a:off x="4660392" y="2395728"/>
            <a:ext cx="2987040" cy="777240"/>
          </a:xfrm>
          <a:prstGeom prst="rect">
            <a:avLst/>
          </a:prstGeom>
          <a:noFill/>
          <a:ln/>
        </p:spPr>
        <p:txBody>
          <a:bodyPr wrap="square" rtlCol="0" anchor="t"/>
          <a:lstStyle/>
          <a:p>
            <a:pPr marL="0" indent="0">
              <a:buNone/>
            </a:pPr>
            <a:r>
              <a:rPr lang="en-US" sz="3000" dirty="0">
                <a:solidFill>
                  <a:srgbClr val="FFFFFF"/>
                </a:solidFill>
                <a:latin typeface="Liberation Serif" pitchFamily="34" charset="0"/>
                <a:ea typeface="Liberation Serif" pitchFamily="34" charset="-122"/>
                <a:cs typeface="Liberation Serif" pitchFamily="34" charset="-120"/>
              </a:rPr>
              <a:t>32,400+</a:t>
            </a:r>
            <a:endParaRPr lang="en-US" sz="3000" dirty="0"/>
          </a:p>
        </p:txBody>
      </p:sp>
      <p:sp>
        <p:nvSpPr>
          <p:cNvPr id="13" name="Text 11"/>
          <p:cNvSpPr/>
          <p:nvPr/>
        </p:nvSpPr>
        <p:spPr>
          <a:xfrm>
            <a:off x="4660392" y="3200400"/>
            <a:ext cx="2987040" cy="502920"/>
          </a:xfrm>
          <a:prstGeom prst="rect">
            <a:avLst/>
          </a:prstGeom>
          <a:noFill/>
          <a:ln/>
        </p:spPr>
        <p:txBody>
          <a:bodyPr wrap="square" rtlCol="0" anchor="ctr"/>
          <a:lstStyle/>
          <a:p>
            <a:pPr marL="0" indent="0">
              <a:lnSpc>
                <a:spcPct val="115000"/>
              </a:lnSpc>
              <a:buNone/>
            </a:pPr>
            <a:r>
              <a:rPr lang="en-US" sz="1050" dirty="0">
                <a:solidFill>
                  <a:srgbClr val="AEB9CC"/>
                </a:solidFill>
                <a:latin typeface="Liberation Sans" pitchFamily="34" charset="0"/>
                <a:ea typeface="Liberation Sans" pitchFamily="34" charset="-122"/>
                <a:cs typeface="Liberation Sans" pitchFamily="34" charset="-120"/>
              </a:rPr>
              <a:t>Passengers transported</a:t>
            </a:r>
            <a:endParaRPr lang="en-US" sz="1050" dirty="0"/>
          </a:p>
        </p:txBody>
      </p:sp>
      <p:sp>
        <p:nvSpPr>
          <p:cNvPr id="14" name="Shape 12"/>
          <p:cNvSpPr/>
          <p:nvPr/>
        </p:nvSpPr>
        <p:spPr>
          <a:xfrm>
            <a:off x="8168640" y="1828800"/>
            <a:ext cx="3444240" cy="1965960"/>
          </a:xfrm>
          <a:prstGeom prst="rect">
            <a:avLst/>
          </a:prstGeom>
          <a:solidFill>
            <a:srgbClr val="1E3355"/>
          </a:solidFill>
          <a:ln/>
        </p:spPr>
        <p:txBody>
          <a:bodyPr/>
          <a:lstStyle/>
          <a:p>
            <a:endParaRPr lang="en-US"/>
          </a:p>
        </p:txBody>
      </p:sp>
      <p:sp>
        <p:nvSpPr>
          <p:cNvPr id="15" name="Shape 13"/>
          <p:cNvSpPr/>
          <p:nvPr/>
        </p:nvSpPr>
        <p:spPr>
          <a:xfrm>
            <a:off x="8168640" y="1828800"/>
            <a:ext cx="457200" cy="54864"/>
          </a:xfrm>
          <a:prstGeom prst="rect">
            <a:avLst/>
          </a:prstGeom>
          <a:solidFill>
            <a:srgbClr val="C9A227"/>
          </a:solidFill>
          <a:ln/>
        </p:spPr>
        <p:txBody>
          <a:bodyPr/>
          <a:lstStyle/>
          <a:p>
            <a:endParaRPr lang="en-US"/>
          </a:p>
        </p:txBody>
      </p:sp>
      <p:sp>
        <p:nvSpPr>
          <p:cNvPr id="16" name="Text 14"/>
          <p:cNvSpPr/>
          <p:nvPr/>
        </p:nvSpPr>
        <p:spPr>
          <a:xfrm>
            <a:off x="8424672" y="2066544"/>
            <a:ext cx="2987040" cy="274320"/>
          </a:xfrm>
          <a:prstGeom prst="rect">
            <a:avLst/>
          </a:prstGeom>
          <a:noFill/>
          <a:ln/>
        </p:spPr>
        <p:txBody>
          <a:bodyPr wrap="square" rtlCol="0" anchor="ctr"/>
          <a:lstStyle/>
          <a:p>
            <a:pPr marL="0" indent="0">
              <a:buNone/>
            </a:pPr>
            <a:r>
              <a:rPr lang="en-US" sz="1050" b="1" kern="0" spc="160" dirty="0">
                <a:solidFill>
                  <a:srgbClr val="E8CD73"/>
                </a:solidFill>
                <a:latin typeface="Liberation Sans" pitchFamily="34" charset="0"/>
                <a:ea typeface="Liberation Sans" pitchFamily="34" charset="-122"/>
                <a:cs typeface="Liberation Sans" pitchFamily="34" charset="-120"/>
              </a:rPr>
              <a:t>EXPERIENCED</a:t>
            </a:r>
            <a:endParaRPr lang="en-US" sz="1050" dirty="0"/>
          </a:p>
        </p:txBody>
      </p:sp>
      <p:sp>
        <p:nvSpPr>
          <p:cNvPr id="17" name="Text 15"/>
          <p:cNvSpPr/>
          <p:nvPr/>
        </p:nvSpPr>
        <p:spPr>
          <a:xfrm>
            <a:off x="8424672" y="2395728"/>
            <a:ext cx="2987040" cy="777240"/>
          </a:xfrm>
          <a:prstGeom prst="rect">
            <a:avLst/>
          </a:prstGeom>
          <a:noFill/>
          <a:ln/>
        </p:spPr>
        <p:txBody>
          <a:bodyPr wrap="square" rtlCol="0" anchor="t"/>
          <a:lstStyle/>
          <a:p>
            <a:pPr marL="0" indent="0">
              <a:buNone/>
            </a:pPr>
            <a:r>
              <a:rPr lang="en-US" sz="3000" dirty="0">
                <a:solidFill>
                  <a:srgbClr val="FFFFFF"/>
                </a:solidFill>
                <a:latin typeface="Liberation Serif" pitchFamily="34" charset="0"/>
                <a:ea typeface="Liberation Serif" pitchFamily="34" charset="-122"/>
                <a:cs typeface="Liberation Serif" pitchFamily="34" charset="-120"/>
              </a:rPr>
              <a:t>20,000+</a:t>
            </a:r>
            <a:endParaRPr lang="en-US" sz="3000" dirty="0"/>
          </a:p>
        </p:txBody>
      </p:sp>
      <p:sp>
        <p:nvSpPr>
          <p:cNvPr id="18" name="Text 16"/>
          <p:cNvSpPr/>
          <p:nvPr/>
        </p:nvSpPr>
        <p:spPr>
          <a:xfrm>
            <a:off x="8424672" y="3200400"/>
            <a:ext cx="2987040" cy="502920"/>
          </a:xfrm>
          <a:prstGeom prst="rect">
            <a:avLst/>
          </a:prstGeom>
          <a:noFill/>
          <a:ln/>
        </p:spPr>
        <p:txBody>
          <a:bodyPr wrap="square" rtlCol="0" anchor="ctr"/>
          <a:lstStyle/>
          <a:p>
            <a:pPr marL="0" indent="0">
              <a:lnSpc>
                <a:spcPct val="115000"/>
              </a:lnSpc>
              <a:buNone/>
            </a:pPr>
            <a:r>
              <a:rPr lang="en-US" sz="1050" dirty="0">
                <a:solidFill>
                  <a:srgbClr val="AEB9CC"/>
                </a:solidFill>
                <a:latin typeface="Liberation Sans" pitchFamily="34" charset="0"/>
                <a:ea typeface="Liberation Sans" pitchFamily="34" charset="-122"/>
                <a:cs typeface="Liberation Sans" pitchFamily="34" charset="-120"/>
              </a:rPr>
              <a:t>Combined senior pilot hours</a:t>
            </a:r>
            <a:endParaRPr lang="en-US" sz="1050" dirty="0"/>
          </a:p>
        </p:txBody>
      </p:sp>
      <p:sp>
        <p:nvSpPr>
          <p:cNvPr id="19" name="Shape 17"/>
          <p:cNvSpPr/>
          <p:nvPr/>
        </p:nvSpPr>
        <p:spPr>
          <a:xfrm>
            <a:off x="640080" y="4114800"/>
            <a:ext cx="3444240" cy="1965960"/>
          </a:xfrm>
          <a:prstGeom prst="rect">
            <a:avLst/>
          </a:prstGeom>
          <a:solidFill>
            <a:srgbClr val="1E3355"/>
          </a:solidFill>
          <a:ln/>
        </p:spPr>
        <p:txBody>
          <a:bodyPr/>
          <a:lstStyle/>
          <a:p>
            <a:endParaRPr lang="en-US"/>
          </a:p>
        </p:txBody>
      </p:sp>
      <p:sp>
        <p:nvSpPr>
          <p:cNvPr id="20" name="Shape 18"/>
          <p:cNvSpPr/>
          <p:nvPr/>
        </p:nvSpPr>
        <p:spPr>
          <a:xfrm>
            <a:off x="640080" y="4114800"/>
            <a:ext cx="457200" cy="54864"/>
          </a:xfrm>
          <a:prstGeom prst="rect">
            <a:avLst/>
          </a:prstGeom>
          <a:solidFill>
            <a:srgbClr val="C9A227"/>
          </a:solidFill>
          <a:ln/>
        </p:spPr>
        <p:txBody>
          <a:bodyPr/>
          <a:lstStyle/>
          <a:p>
            <a:endParaRPr lang="en-US"/>
          </a:p>
        </p:txBody>
      </p:sp>
      <p:sp>
        <p:nvSpPr>
          <p:cNvPr id="21" name="Text 19"/>
          <p:cNvSpPr/>
          <p:nvPr/>
        </p:nvSpPr>
        <p:spPr>
          <a:xfrm>
            <a:off x="896112" y="4352544"/>
            <a:ext cx="2987040" cy="274320"/>
          </a:xfrm>
          <a:prstGeom prst="rect">
            <a:avLst/>
          </a:prstGeom>
          <a:noFill/>
          <a:ln/>
        </p:spPr>
        <p:txBody>
          <a:bodyPr wrap="square" rtlCol="0" anchor="ctr"/>
          <a:lstStyle/>
          <a:p>
            <a:pPr marL="0" indent="0">
              <a:buNone/>
            </a:pPr>
            <a:r>
              <a:rPr lang="en-US" sz="1050" b="1" kern="0" spc="160" dirty="0">
                <a:solidFill>
                  <a:srgbClr val="E8CD73"/>
                </a:solidFill>
                <a:latin typeface="Liberation Sans" pitchFamily="34" charset="0"/>
                <a:ea typeface="Liberation Sans" pitchFamily="34" charset="-122"/>
                <a:cs typeface="Liberation Sans" pitchFamily="34" charset="-120"/>
              </a:rPr>
              <a:t>TRUSTED</a:t>
            </a:r>
            <a:endParaRPr lang="en-US" sz="1050" dirty="0"/>
          </a:p>
        </p:txBody>
      </p:sp>
      <p:sp>
        <p:nvSpPr>
          <p:cNvPr id="22" name="Text 20"/>
          <p:cNvSpPr/>
          <p:nvPr/>
        </p:nvSpPr>
        <p:spPr>
          <a:xfrm>
            <a:off x="896112" y="4681728"/>
            <a:ext cx="2987040" cy="777240"/>
          </a:xfrm>
          <a:prstGeom prst="rect">
            <a:avLst/>
          </a:prstGeom>
          <a:noFill/>
          <a:ln/>
        </p:spPr>
        <p:txBody>
          <a:bodyPr wrap="square" rtlCol="0" anchor="t"/>
          <a:lstStyle/>
          <a:p>
            <a:pPr marL="0" indent="0">
              <a:buNone/>
            </a:pPr>
            <a:r>
              <a:rPr lang="en-US" sz="3000" dirty="0">
                <a:solidFill>
                  <a:srgbClr val="FFFFFF"/>
                </a:solidFill>
                <a:latin typeface="Liberation Serif" pitchFamily="34" charset="0"/>
                <a:ea typeface="Liberation Serif" pitchFamily="34" charset="-122"/>
                <a:cs typeface="Liberation Serif" pitchFamily="34" charset="-120"/>
              </a:rPr>
              <a:t>2,700</a:t>
            </a:r>
            <a:endParaRPr lang="en-US" sz="3000" dirty="0"/>
          </a:p>
        </p:txBody>
      </p:sp>
      <p:sp>
        <p:nvSpPr>
          <p:cNvPr id="23" name="Text 21"/>
          <p:cNvSpPr/>
          <p:nvPr/>
        </p:nvSpPr>
        <p:spPr>
          <a:xfrm>
            <a:off x="896112" y="5486400"/>
            <a:ext cx="2987040" cy="502920"/>
          </a:xfrm>
          <a:prstGeom prst="rect">
            <a:avLst/>
          </a:prstGeom>
          <a:noFill/>
          <a:ln/>
        </p:spPr>
        <p:txBody>
          <a:bodyPr wrap="square" rtlCol="0" anchor="ctr"/>
          <a:lstStyle/>
          <a:p>
            <a:pPr marL="0" indent="0">
              <a:lnSpc>
                <a:spcPct val="115000"/>
              </a:lnSpc>
              <a:buNone/>
            </a:pPr>
            <a:r>
              <a:rPr lang="en-US" sz="1050" dirty="0">
                <a:solidFill>
                  <a:srgbClr val="AEB9CC"/>
                </a:solidFill>
                <a:latin typeface="Liberation Sans" pitchFamily="34" charset="0"/>
                <a:ea typeface="Liberation Sans" pitchFamily="34" charset="-122"/>
                <a:cs typeface="Liberation Sans" pitchFamily="34" charset="-120"/>
              </a:rPr>
              <a:t>Commercial charter flights completed</a:t>
            </a:r>
            <a:endParaRPr lang="en-US" sz="1050" dirty="0"/>
          </a:p>
        </p:txBody>
      </p:sp>
      <p:sp>
        <p:nvSpPr>
          <p:cNvPr id="24" name="Shape 22"/>
          <p:cNvSpPr/>
          <p:nvPr/>
        </p:nvSpPr>
        <p:spPr>
          <a:xfrm>
            <a:off x="4404360" y="4114800"/>
            <a:ext cx="3444240" cy="1965960"/>
          </a:xfrm>
          <a:prstGeom prst="rect">
            <a:avLst/>
          </a:prstGeom>
          <a:solidFill>
            <a:srgbClr val="1E3355"/>
          </a:solidFill>
          <a:ln/>
        </p:spPr>
        <p:txBody>
          <a:bodyPr/>
          <a:lstStyle/>
          <a:p>
            <a:endParaRPr lang="en-US"/>
          </a:p>
        </p:txBody>
      </p:sp>
      <p:sp>
        <p:nvSpPr>
          <p:cNvPr id="25" name="Shape 23"/>
          <p:cNvSpPr/>
          <p:nvPr/>
        </p:nvSpPr>
        <p:spPr>
          <a:xfrm>
            <a:off x="4404360" y="4114800"/>
            <a:ext cx="457200" cy="54864"/>
          </a:xfrm>
          <a:prstGeom prst="rect">
            <a:avLst/>
          </a:prstGeom>
          <a:solidFill>
            <a:srgbClr val="C9A227"/>
          </a:solidFill>
          <a:ln/>
        </p:spPr>
        <p:txBody>
          <a:bodyPr/>
          <a:lstStyle/>
          <a:p>
            <a:endParaRPr lang="en-US"/>
          </a:p>
        </p:txBody>
      </p:sp>
      <p:sp>
        <p:nvSpPr>
          <p:cNvPr id="26" name="Text 24"/>
          <p:cNvSpPr/>
          <p:nvPr/>
        </p:nvSpPr>
        <p:spPr>
          <a:xfrm>
            <a:off x="4660392" y="4352544"/>
            <a:ext cx="2987040" cy="274320"/>
          </a:xfrm>
          <a:prstGeom prst="rect">
            <a:avLst/>
          </a:prstGeom>
          <a:noFill/>
          <a:ln/>
        </p:spPr>
        <p:txBody>
          <a:bodyPr wrap="square" rtlCol="0" anchor="ctr"/>
          <a:lstStyle/>
          <a:p>
            <a:pPr marL="0" indent="0">
              <a:buNone/>
            </a:pPr>
            <a:r>
              <a:rPr lang="en-US" sz="1050" b="1" kern="0" spc="160" dirty="0">
                <a:solidFill>
                  <a:srgbClr val="E8CD73"/>
                </a:solidFill>
                <a:latin typeface="Liberation Sans" pitchFamily="34" charset="0"/>
                <a:ea typeface="Liberation Sans" pitchFamily="34" charset="-122"/>
                <a:cs typeface="Liberation Sans" pitchFamily="34" charset="-120"/>
              </a:rPr>
              <a:t>SAFE</a:t>
            </a:r>
            <a:endParaRPr lang="en-US" sz="1050" dirty="0"/>
          </a:p>
        </p:txBody>
      </p:sp>
      <p:sp>
        <p:nvSpPr>
          <p:cNvPr id="27" name="Text 25"/>
          <p:cNvSpPr/>
          <p:nvPr/>
        </p:nvSpPr>
        <p:spPr>
          <a:xfrm>
            <a:off x="4660392" y="4681728"/>
            <a:ext cx="2987040" cy="777240"/>
          </a:xfrm>
          <a:prstGeom prst="rect">
            <a:avLst/>
          </a:prstGeom>
          <a:noFill/>
          <a:ln/>
        </p:spPr>
        <p:txBody>
          <a:bodyPr wrap="square" rtlCol="0" anchor="t"/>
          <a:lstStyle/>
          <a:p>
            <a:pPr marL="0" indent="0">
              <a:buNone/>
            </a:pPr>
            <a:r>
              <a:rPr lang="en-US" sz="2000" dirty="0">
                <a:solidFill>
                  <a:srgbClr val="FFFFFF"/>
                </a:solidFill>
                <a:latin typeface="Liberation Serif" pitchFamily="34" charset="0"/>
                <a:ea typeface="Liberation Serif" pitchFamily="34" charset="-122"/>
                <a:cs typeface="Liberation Serif" pitchFamily="34" charset="-120"/>
              </a:rPr>
              <a:t>Maintenance-First</a:t>
            </a:r>
            <a:endParaRPr lang="en-US" sz="2000" dirty="0"/>
          </a:p>
        </p:txBody>
      </p:sp>
      <p:sp>
        <p:nvSpPr>
          <p:cNvPr id="28" name="Text 26"/>
          <p:cNvSpPr/>
          <p:nvPr/>
        </p:nvSpPr>
        <p:spPr>
          <a:xfrm>
            <a:off x="4660392" y="5257800"/>
            <a:ext cx="2987040" cy="502920"/>
          </a:xfrm>
          <a:prstGeom prst="rect">
            <a:avLst/>
          </a:prstGeom>
          <a:noFill/>
          <a:ln/>
        </p:spPr>
        <p:txBody>
          <a:bodyPr wrap="square" rtlCol="0" anchor="ctr"/>
          <a:lstStyle/>
          <a:p>
            <a:pPr marL="0" indent="0">
              <a:lnSpc>
                <a:spcPct val="115000"/>
              </a:lnSpc>
              <a:buNone/>
            </a:pPr>
            <a:r>
              <a:rPr lang="en-US" sz="1050" dirty="0">
                <a:solidFill>
                  <a:srgbClr val="AEB9CC"/>
                </a:solidFill>
                <a:latin typeface="Liberation Sans" pitchFamily="34" charset="0"/>
                <a:ea typeface="Liberation Sans" pitchFamily="34" charset="-122"/>
                <a:cs typeface="Liberation Sans" pitchFamily="34" charset="-120"/>
              </a:rPr>
              <a:t>Operating philosophy</a:t>
            </a:r>
            <a:endParaRPr lang="en-US" sz="1050" dirty="0"/>
          </a:p>
        </p:txBody>
      </p:sp>
      <p:sp>
        <p:nvSpPr>
          <p:cNvPr id="29" name="Shape 27"/>
          <p:cNvSpPr/>
          <p:nvPr/>
        </p:nvSpPr>
        <p:spPr>
          <a:xfrm>
            <a:off x="8168640" y="4114800"/>
            <a:ext cx="3444240" cy="1965960"/>
          </a:xfrm>
          <a:prstGeom prst="rect">
            <a:avLst/>
          </a:prstGeom>
          <a:solidFill>
            <a:srgbClr val="1E3355"/>
          </a:solidFill>
          <a:ln/>
        </p:spPr>
        <p:txBody>
          <a:bodyPr/>
          <a:lstStyle/>
          <a:p>
            <a:endParaRPr lang="en-US"/>
          </a:p>
        </p:txBody>
      </p:sp>
      <p:sp>
        <p:nvSpPr>
          <p:cNvPr id="30" name="Shape 28"/>
          <p:cNvSpPr/>
          <p:nvPr/>
        </p:nvSpPr>
        <p:spPr>
          <a:xfrm>
            <a:off x="8168640" y="4114800"/>
            <a:ext cx="457200" cy="54864"/>
          </a:xfrm>
          <a:prstGeom prst="rect">
            <a:avLst/>
          </a:prstGeom>
          <a:solidFill>
            <a:srgbClr val="C9A227"/>
          </a:solidFill>
          <a:ln/>
        </p:spPr>
        <p:txBody>
          <a:bodyPr/>
          <a:lstStyle/>
          <a:p>
            <a:endParaRPr lang="en-US"/>
          </a:p>
        </p:txBody>
      </p:sp>
      <p:sp>
        <p:nvSpPr>
          <p:cNvPr id="31" name="Text 29"/>
          <p:cNvSpPr/>
          <p:nvPr/>
        </p:nvSpPr>
        <p:spPr>
          <a:xfrm>
            <a:off x="8424672" y="4352544"/>
            <a:ext cx="2987040" cy="274320"/>
          </a:xfrm>
          <a:prstGeom prst="rect">
            <a:avLst/>
          </a:prstGeom>
          <a:noFill/>
          <a:ln/>
        </p:spPr>
        <p:txBody>
          <a:bodyPr wrap="square" rtlCol="0" anchor="ctr"/>
          <a:lstStyle/>
          <a:p>
            <a:pPr marL="0" indent="0">
              <a:buNone/>
            </a:pPr>
            <a:r>
              <a:rPr lang="en-US" sz="1050" b="1" kern="0" spc="160" dirty="0">
                <a:solidFill>
                  <a:srgbClr val="E8CD73"/>
                </a:solidFill>
                <a:latin typeface="Liberation Sans" pitchFamily="34" charset="0"/>
                <a:ea typeface="Liberation Sans" pitchFamily="34" charset="-122"/>
                <a:cs typeface="Liberation Sans" pitchFamily="34" charset="-120"/>
              </a:rPr>
              <a:t>GROWING</a:t>
            </a:r>
            <a:endParaRPr lang="en-US" sz="1050" dirty="0"/>
          </a:p>
        </p:txBody>
      </p:sp>
      <p:sp>
        <p:nvSpPr>
          <p:cNvPr id="32" name="Text 30"/>
          <p:cNvSpPr/>
          <p:nvPr/>
        </p:nvSpPr>
        <p:spPr>
          <a:xfrm>
            <a:off x="8424672" y="4681728"/>
            <a:ext cx="2987040" cy="777240"/>
          </a:xfrm>
          <a:prstGeom prst="rect">
            <a:avLst/>
          </a:prstGeom>
          <a:noFill/>
          <a:ln/>
        </p:spPr>
        <p:txBody>
          <a:bodyPr wrap="square" rtlCol="0" anchor="t"/>
          <a:lstStyle/>
          <a:p>
            <a:pPr marL="0" indent="0">
              <a:buNone/>
            </a:pPr>
            <a:r>
              <a:rPr lang="en-US" sz="2000" dirty="0">
                <a:solidFill>
                  <a:srgbClr val="FFFFFF"/>
                </a:solidFill>
                <a:latin typeface="Liberation Serif" pitchFamily="34" charset="0"/>
                <a:ea typeface="Liberation Serif" pitchFamily="34" charset="-122"/>
                <a:cs typeface="Liberation Serif" pitchFamily="34" charset="-120"/>
              </a:rPr>
              <a:t>Scheduled Service</a:t>
            </a:r>
            <a:endParaRPr lang="en-US" sz="2000" dirty="0"/>
          </a:p>
        </p:txBody>
      </p:sp>
      <p:sp>
        <p:nvSpPr>
          <p:cNvPr id="33" name="Text 31"/>
          <p:cNvSpPr/>
          <p:nvPr/>
        </p:nvSpPr>
        <p:spPr>
          <a:xfrm>
            <a:off x="8424672" y="5257800"/>
            <a:ext cx="2987040" cy="502920"/>
          </a:xfrm>
          <a:prstGeom prst="rect">
            <a:avLst/>
          </a:prstGeom>
          <a:noFill/>
          <a:ln/>
        </p:spPr>
        <p:txBody>
          <a:bodyPr wrap="square" rtlCol="0" anchor="ctr"/>
          <a:lstStyle/>
          <a:p>
            <a:pPr marL="0" indent="0">
              <a:lnSpc>
                <a:spcPct val="115000"/>
              </a:lnSpc>
              <a:buNone/>
            </a:pPr>
            <a:r>
              <a:rPr lang="en-US" sz="1050" dirty="0">
                <a:solidFill>
                  <a:srgbClr val="AEB9CC"/>
                </a:solidFill>
                <a:latin typeface="Liberation Sans" pitchFamily="34" charset="0"/>
                <a:ea typeface="Liberation Sans" pitchFamily="34" charset="-122"/>
                <a:cs typeface="Liberation Sans" pitchFamily="34" charset="-120"/>
              </a:rPr>
              <a:t>Expanding into regional passenger service</a:t>
            </a:r>
            <a:endParaRPr lang="en-US" sz="1050" dirty="0"/>
          </a:p>
        </p:txBody>
      </p:sp>
      <p:sp>
        <p:nvSpPr>
          <p:cNvPr id="34" name="Text 32"/>
          <p:cNvSpPr/>
          <p:nvPr/>
        </p:nvSpPr>
        <p:spPr>
          <a:xfrm>
            <a:off x="640080" y="6446520"/>
            <a:ext cx="10881360" cy="365760"/>
          </a:xfrm>
          <a:prstGeom prst="rect">
            <a:avLst/>
          </a:prstGeom>
          <a:noFill/>
          <a:ln/>
        </p:spPr>
        <p:txBody>
          <a:bodyPr wrap="square" rtlCol="0" anchor="ctr"/>
          <a:lstStyle/>
          <a:p>
            <a:pPr marL="0" indent="0" algn="ctr">
              <a:buNone/>
            </a:pPr>
            <a:r>
              <a:rPr lang="en-US" sz="1400" i="1" dirty="0">
                <a:solidFill>
                  <a:srgbClr val="E8CD73"/>
                </a:solidFill>
                <a:latin typeface="Liberation Serif" pitchFamily="34" charset="0"/>
                <a:ea typeface="Liberation Serif" pitchFamily="34" charset="-122"/>
                <a:cs typeface="Liberation Serif" pitchFamily="34" charset="-120"/>
              </a:rPr>
              <a:t>Building upon a proven foundation rather than starting from scratch.</a:t>
            </a:r>
            <a:endParaRPr lang="en-US" sz="1400" dirty="0"/>
          </a:p>
        </p:txBody>
      </p:sp>
      <p:sp>
        <p:nvSpPr>
          <p:cNvPr id="35" name="Text 33"/>
          <p:cNvSpPr/>
          <p:nvPr/>
        </p:nvSpPr>
        <p:spPr>
          <a:xfrm>
            <a:off x="548640" y="6455664"/>
            <a:ext cx="6400800" cy="274320"/>
          </a:xfrm>
          <a:prstGeom prst="rect">
            <a:avLst/>
          </a:prstGeom>
          <a:noFill/>
          <a:ln/>
        </p:spPr>
        <p:txBody>
          <a:bodyPr wrap="square" rtlCol="0" anchor="ctr"/>
          <a:lstStyle/>
          <a:p>
            <a:pPr marL="0" indent="0" algn="l">
              <a:buNone/>
            </a:pPr>
            <a:r>
              <a:rPr lang="en-US" sz="800" kern="0" spc="100" dirty="0">
                <a:solidFill>
                  <a:srgbClr val="7C8BA8"/>
                </a:solidFill>
                <a:latin typeface="Liberation Sans" pitchFamily="34" charset="0"/>
                <a:ea typeface="Liberation Sans" pitchFamily="34" charset="-122"/>
                <a:cs typeface="Liberation Sans" pitchFamily="34" charset="-120"/>
              </a:rPr>
              <a:t>ZIPLINE EXPRESS  ·  CONFIDENTIAL  ·  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rtlCol="0" anchor="ctr"/>
          <a:lstStyle/>
          <a:p>
            <a:pPr marL="0" indent="0" algn="l">
              <a:buNone/>
            </a:pPr>
            <a:r>
              <a:rPr lang="en-US" sz="1250" b="1" kern="0" spc="240" dirty="0">
                <a:solidFill>
                  <a:srgbClr val="C9A227"/>
                </a:solidFill>
                <a:latin typeface="Liberation Sans" pitchFamily="34" charset="0"/>
                <a:ea typeface="Liberation Sans" pitchFamily="34" charset="-122"/>
                <a:cs typeface="Liberation Sans" pitchFamily="34" charset="-120"/>
              </a:rPr>
              <a:t>LEADERSHIP</a:t>
            </a:r>
            <a:endParaRPr lang="en-US" sz="1250" dirty="0"/>
          </a:p>
        </p:txBody>
      </p:sp>
      <p:sp>
        <p:nvSpPr>
          <p:cNvPr id="3" name="Text 1"/>
          <p:cNvSpPr/>
          <p:nvPr/>
        </p:nvSpPr>
        <p:spPr>
          <a:xfrm>
            <a:off x="640080" y="868680"/>
            <a:ext cx="5486400" cy="640080"/>
          </a:xfrm>
          <a:prstGeom prst="rect">
            <a:avLst/>
          </a:prstGeom>
          <a:noFill/>
          <a:ln/>
        </p:spPr>
        <p:txBody>
          <a:bodyPr wrap="square" rtlCol="0" anchor="ctr"/>
          <a:lstStyle/>
          <a:p>
            <a:pPr marL="0" indent="0">
              <a:buNone/>
            </a:pPr>
            <a:r>
              <a:rPr lang="en-US" sz="3000" dirty="0">
                <a:solidFill>
                  <a:srgbClr val="13233D"/>
                </a:solidFill>
                <a:latin typeface="Liberation Serif" pitchFamily="34" charset="0"/>
                <a:ea typeface="Liberation Serif" pitchFamily="34" charset="-122"/>
                <a:cs typeface="Liberation Serif" pitchFamily="34" charset="-120"/>
              </a:rPr>
              <a:t>Leadership</a:t>
            </a:r>
            <a:endParaRPr lang="en-US" sz="3000" dirty="0"/>
          </a:p>
        </p:txBody>
      </p:sp>
      <p:sp>
        <p:nvSpPr>
          <p:cNvPr id="4" name="Shape 2"/>
          <p:cNvSpPr/>
          <p:nvPr/>
        </p:nvSpPr>
        <p:spPr>
          <a:xfrm>
            <a:off x="640080" y="1828800"/>
            <a:ext cx="1417320" cy="1417320"/>
          </a:xfrm>
          <a:prstGeom prst="ellipse">
            <a:avLst/>
          </a:prstGeom>
          <a:solidFill>
            <a:srgbClr val="13233D"/>
          </a:solidFill>
          <a:ln/>
        </p:spPr>
        <p:txBody>
          <a:bodyPr/>
          <a:lstStyle/>
          <a:p>
            <a:endParaRPr lang="en-US"/>
          </a:p>
        </p:txBody>
      </p:sp>
      <p:sp>
        <p:nvSpPr>
          <p:cNvPr id="5" name="Text 3"/>
          <p:cNvSpPr/>
          <p:nvPr/>
        </p:nvSpPr>
        <p:spPr>
          <a:xfrm>
            <a:off x="640080" y="1828800"/>
            <a:ext cx="1417320" cy="1417320"/>
          </a:xfrm>
          <a:prstGeom prst="rect">
            <a:avLst/>
          </a:prstGeom>
          <a:noFill/>
          <a:ln/>
        </p:spPr>
        <p:txBody>
          <a:bodyPr wrap="square" rtlCol="0" anchor="ctr"/>
          <a:lstStyle/>
          <a:p>
            <a:pPr marL="0" indent="0" algn="ctr">
              <a:buNone/>
            </a:pPr>
            <a:r>
              <a:rPr lang="en-US" sz="3400" dirty="0">
                <a:solidFill>
                  <a:srgbClr val="E8CD73"/>
                </a:solidFill>
                <a:latin typeface="Liberation Serif" pitchFamily="34" charset="0"/>
                <a:ea typeface="Liberation Serif" pitchFamily="34" charset="-122"/>
                <a:cs typeface="Liberation Serif" pitchFamily="34" charset="-120"/>
              </a:rPr>
              <a:t>MB</a:t>
            </a:r>
            <a:endParaRPr lang="en-US" sz="3400" dirty="0"/>
          </a:p>
        </p:txBody>
      </p:sp>
      <p:sp>
        <p:nvSpPr>
          <p:cNvPr id="6" name="Text 4"/>
          <p:cNvSpPr/>
          <p:nvPr/>
        </p:nvSpPr>
        <p:spPr>
          <a:xfrm>
            <a:off x="2331720" y="1901952"/>
            <a:ext cx="5760720" cy="411480"/>
          </a:xfrm>
          <a:prstGeom prst="rect">
            <a:avLst/>
          </a:prstGeom>
          <a:noFill/>
          <a:ln/>
        </p:spPr>
        <p:txBody>
          <a:bodyPr wrap="square" rtlCol="0" anchor="ctr"/>
          <a:lstStyle/>
          <a:p>
            <a:pPr marL="0" indent="0">
              <a:buNone/>
            </a:pPr>
            <a:r>
              <a:rPr lang="en-US" sz="2200" b="1" dirty="0">
                <a:solidFill>
                  <a:srgbClr val="13233D"/>
                </a:solidFill>
                <a:latin typeface="Liberation Serif" pitchFamily="34" charset="0"/>
                <a:ea typeface="Liberation Serif" pitchFamily="34" charset="-122"/>
                <a:cs typeface="Liberation Serif" pitchFamily="34" charset="-120"/>
              </a:rPr>
              <a:t>Captain Mornel Brown</a:t>
            </a:r>
            <a:endParaRPr lang="en-US" sz="2200" dirty="0"/>
          </a:p>
        </p:txBody>
      </p:sp>
      <p:sp>
        <p:nvSpPr>
          <p:cNvPr id="7" name="Text 5"/>
          <p:cNvSpPr/>
          <p:nvPr/>
        </p:nvSpPr>
        <p:spPr>
          <a:xfrm>
            <a:off x="2331720" y="2359152"/>
            <a:ext cx="5760720" cy="292608"/>
          </a:xfrm>
          <a:prstGeom prst="rect">
            <a:avLst/>
          </a:prstGeom>
          <a:noFill/>
          <a:ln/>
        </p:spPr>
        <p:txBody>
          <a:bodyPr wrap="square" rtlCol="0" anchor="ctr"/>
          <a:lstStyle/>
          <a:p>
            <a:pPr marL="0" indent="0">
              <a:buNone/>
            </a:pPr>
            <a:r>
              <a:rPr lang="en-US" sz="1100" b="1" kern="0" spc="130" dirty="0">
                <a:solidFill>
                  <a:srgbClr val="C9A227"/>
                </a:solidFill>
                <a:latin typeface="Liberation Sans" pitchFamily="34" charset="0"/>
                <a:ea typeface="Liberation Sans" pitchFamily="34" charset="-122"/>
                <a:cs typeface="Liberation Sans" pitchFamily="34" charset="-120"/>
              </a:rPr>
              <a:t>FOUNDER &amp; CHIEF EXECUTIVE OFFICER</a:t>
            </a:r>
            <a:endParaRPr lang="en-US" sz="1100" dirty="0"/>
          </a:p>
        </p:txBody>
      </p:sp>
      <p:sp>
        <p:nvSpPr>
          <p:cNvPr id="8" name="Text 6"/>
          <p:cNvSpPr/>
          <p:nvPr/>
        </p:nvSpPr>
        <p:spPr>
          <a:xfrm>
            <a:off x="2331720" y="2761488"/>
            <a:ext cx="5760720" cy="365760"/>
          </a:xfrm>
          <a:prstGeom prst="rect">
            <a:avLst/>
          </a:prstGeom>
          <a:noFill/>
          <a:ln/>
        </p:spPr>
        <p:txBody>
          <a:bodyPr wrap="square" rtlCol="0" anchor="ctr"/>
          <a:lstStyle/>
          <a:p>
            <a:pPr marL="0" indent="0">
              <a:buNone/>
            </a:pPr>
            <a:r>
              <a:rPr lang="en-US" sz="1700" b="1" dirty="0">
                <a:solidFill>
                  <a:srgbClr val="13233D"/>
                </a:solidFill>
                <a:latin typeface="Liberation Sans" pitchFamily="34" charset="0"/>
                <a:ea typeface="Liberation Sans" pitchFamily="34" charset="-122"/>
                <a:cs typeface="Liberation Sans" pitchFamily="34" charset="-120"/>
              </a:rPr>
              <a:t>9,500+</a:t>
            </a:r>
            <a:r>
              <a:rPr lang="en-US" sz="1150" dirty="0">
                <a:solidFill>
                  <a:srgbClr val="62708A"/>
                </a:solidFill>
                <a:latin typeface="Liberation Sans" pitchFamily="34" charset="0"/>
                <a:ea typeface="Liberation Sans" pitchFamily="34" charset="-122"/>
                <a:cs typeface="Liberation Sans" pitchFamily="34" charset="-120"/>
              </a:rPr>
              <a:t>  flight hours   ·   </a:t>
            </a:r>
            <a:r>
              <a:rPr lang="en-US" sz="1700" b="1" dirty="0">
                <a:solidFill>
                  <a:srgbClr val="13233D"/>
                </a:solidFill>
                <a:latin typeface="Liberation Sans" pitchFamily="34" charset="0"/>
                <a:ea typeface="Liberation Sans" pitchFamily="34" charset="-122"/>
                <a:cs typeface="Liberation Sans" pitchFamily="34" charset="-120"/>
              </a:rPr>
              <a:t>16+</a:t>
            </a:r>
            <a:r>
              <a:rPr lang="en-US" sz="1150" dirty="0">
                <a:solidFill>
                  <a:srgbClr val="62708A"/>
                </a:solidFill>
                <a:latin typeface="Liberation Sans" pitchFamily="34" charset="0"/>
                <a:ea typeface="Liberation Sans" pitchFamily="34" charset="-122"/>
                <a:cs typeface="Liberation Sans" pitchFamily="34" charset="-120"/>
              </a:rPr>
              <a:t>  years of aviation experience</a:t>
            </a:r>
            <a:endParaRPr lang="en-US" sz="1700" dirty="0"/>
          </a:p>
        </p:txBody>
      </p:sp>
      <p:sp>
        <p:nvSpPr>
          <p:cNvPr id="9" name="Text 7"/>
          <p:cNvSpPr/>
          <p:nvPr/>
        </p:nvSpPr>
        <p:spPr>
          <a:xfrm>
            <a:off x="640080" y="3429000"/>
            <a:ext cx="7452360" cy="1051560"/>
          </a:xfrm>
          <a:prstGeom prst="rect">
            <a:avLst/>
          </a:prstGeom>
          <a:noFill/>
          <a:ln/>
        </p:spPr>
        <p:txBody>
          <a:bodyPr wrap="square" rtlCol="0" anchor="ctr"/>
          <a:lstStyle/>
          <a:p>
            <a:pPr marL="0" indent="0">
              <a:lnSpc>
                <a:spcPct val="135000"/>
              </a:lnSpc>
              <a:buNone/>
            </a:pPr>
            <a:r>
              <a:rPr lang="en-US" sz="1250" dirty="0">
                <a:solidFill>
                  <a:srgbClr val="1B2740"/>
                </a:solidFill>
                <a:latin typeface="Liberation Sans" pitchFamily="34" charset="0"/>
                <a:ea typeface="Liberation Sans" pitchFamily="34" charset="-122"/>
                <a:cs typeface="Liberation Sans" pitchFamily="34" charset="-120"/>
              </a:rPr>
              <a:t>Captain Mornel Brown has dedicated his career to building a professional, safety-focused airline serving the people of The Bahamas. He has guided Zipline Express from a single-aircraft operation into a respected commercial operator known for reliability, professionalism and customer service.</a:t>
            </a:r>
            <a:endParaRPr lang="en-US" sz="1250" dirty="0"/>
          </a:p>
        </p:txBody>
      </p:sp>
      <p:sp>
        <p:nvSpPr>
          <p:cNvPr id="10" name="Shape 8"/>
          <p:cNvSpPr/>
          <p:nvPr/>
        </p:nvSpPr>
        <p:spPr>
          <a:xfrm>
            <a:off x="640080" y="4617720"/>
            <a:ext cx="7452360" cy="960120"/>
          </a:xfrm>
          <a:prstGeom prst="rect">
            <a:avLst/>
          </a:prstGeom>
          <a:solidFill>
            <a:srgbClr val="F6F7F9"/>
          </a:solidFill>
          <a:ln/>
        </p:spPr>
        <p:txBody>
          <a:bodyPr/>
          <a:lstStyle/>
          <a:p>
            <a:endParaRPr lang="en-US"/>
          </a:p>
        </p:txBody>
      </p:sp>
      <p:sp>
        <p:nvSpPr>
          <p:cNvPr id="11" name="Text 9"/>
          <p:cNvSpPr/>
          <p:nvPr/>
        </p:nvSpPr>
        <p:spPr>
          <a:xfrm>
            <a:off x="914400" y="4791456"/>
            <a:ext cx="6903720" cy="685800"/>
          </a:xfrm>
          <a:prstGeom prst="rect">
            <a:avLst/>
          </a:prstGeom>
          <a:noFill/>
          <a:ln/>
        </p:spPr>
        <p:txBody>
          <a:bodyPr wrap="square" rtlCol="0" anchor="ctr"/>
          <a:lstStyle/>
          <a:p>
            <a:pPr marL="0" indent="0">
              <a:lnSpc>
                <a:spcPct val="130000"/>
              </a:lnSpc>
              <a:buNone/>
            </a:pPr>
            <a:r>
              <a:rPr lang="en-US" sz="1450" i="1" dirty="0">
                <a:solidFill>
                  <a:srgbClr val="13233D"/>
                </a:solidFill>
                <a:latin typeface="Liberation Serif" pitchFamily="34" charset="0"/>
                <a:ea typeface="Liberation Serif" pitchFamily="34" charset="-122"/>
                <a:cs typeface="Liberation Serif" pitchFamily="34" charset="-120"/>
              </a:rPr>
              <a:t>Build carefully.  Operate safely.  Deliver consistently.</a:t>
            </a:r>
            <a:endParaRPr lang="en-US" sz="1450" dirty="0"/>
          </a:p>
          <a:p>
            <a:pPr marL="0" indent="0">
              <a:lnSpc>
                <a:spcPct val="130000"/>
              </a:lnSpc>
              <a:buNone/>
            </a:pPr>
            <a:r>
              <a:rPr lang="en-US" sz="1000" dirty="0">
                <a:solidFill>
                  <a:srgbClr val="62708A"/>
                </a:solidFill>
                <a:latin typeface="Liberation Sans" pitchFamily="34" charset="0"/>
                <a:ea typeface="Liberation Sans" pitchFamily="34" charset="-122"/>
                <a:cs typeface="Liberation Sans" pitchFamily="34" charset="-120"/>
              </a:rPr>
              <a:t>— Captain Brown’s leadership philosophy</a:t>
            </a:r>
            <a:endParaRPr lang="en-US" sz="1450" dirty="0"/>
          </a:p>
        </p:txBody>
      </p:sp>
      <p:sp>
        <p:nvSpPr>
          <p:cNvPr id="12" name="Shape 10"/>
          <p:cNvSpPr/>
          <p:nvPr/>
        </p:nvSpPr>
        <p:spPr>
          <a:xfrm>
            <a:off x="8549640" y="1828800"/>
            <a:ext cx="2999232" cy="3977640"/>
          </a:xfrm>
          <a:prstGeom prst="rect">
            <a:avLst/>
          </a:prstGeom>
          <a:solidFill>
            <a:srgbClr val="13233D"/>
          </a:solidFill>
          <a:ln/>
        </p:spPr>
        <p:txBody>
          <a:bodyPr/>
          <a:lstStyle/>
          <a:p>
            <a:endParaRPr lang="en-US"/>
          </a:p>
        </p:txBody>
      </p:sp>
      <p:sp>
        <p:nvSpPr>
          <p:cNvPr id="13" name="Text 11"/>
          <p:cNvSpPr/>
          <p:nvPr/>
        </p:nvSpPr>
        <p:spPr>
          <a:xfrm>
            <a:off x="8842248" y="2048256"/>
            <a:ext cx="2468880" cy="256032"/>
          </a:xfrm>
          <a:prstGeom prst="rect">
            <a:avLst/>
          </a:prstGeom>
          <a:noFill/>
          <a:ln/>
        </p:spPr>
        <p:txBody>
          <a:bodyPr wrap="square" rtlCol="0" anchor="ctr"/>
          <a:lstStyle/>
          <a:p>
            <a:pPr marL="0" indent="0">
              <a:buNone/>
            </a:pPr>
            <a:r>
              <a:rPr lang="en-US" sz="1000" b="1" kern="0" spc="150" dirty="0">
                <a:solidFill>
                  <a:srgbClr val="C9A227"/>
                </a:solidFill>
                <a:latin typeface="Liberation Sans" pitchFamily="34" charset="0"/>
                <a:ea typeface="Liberation Sans" pitchFamily="34" charset="-122"/>
                <a:cs typeface="Liberation Sans" pitchFamily="34" charset="-120"/>
              </a:rPr>
              <a:t>CHIEF PILOT</a:t>
            </a:r>
            <a:endParaRPr lang="en-US" sz="1000" dirty="0"/>
          </a:p>
        </p:txBody>
      </p:sp>
      <p:sp>
        <p:nvSpPr>
          <p:cNvPr id="14" name="Text 12"/>
          <p:cNvSpPr/>
          <p:nvPr/>
        </p:nvSpPr>
        <p:spPr>
          <a:xfrm>
            <a:off x="8842248" y="2304288"/>
            <a:ext cx="2468880" cy="658368"/>
          </a:xfrm>
          <a:prstGeom prst="rect">
            <a:avLst/>
          </a:prstGeom>
          <a:noFill/>
          <a:ln/>
        </p:spPr>
        <p:txBody>
          <a:bodyPr wrap="square" rtlCol="0" anchor="ctr"/>
          <a:lstStyle/>
          <a:p>
            <a:pPr marL="0" indent="0">
              <a:lnSpc>
                <a:spcPct val="106000"/>
              </a:lnSpc>
              <a:buNone/>
            </a:pPr>
            <a:r>
              <a:rPr lang="en-US" sz="1650" b="1" dirty="0">
                <a:solidFill>
                  <a:srgbClr val="FFFFFF"/>
                </a:solidFill>
                <a:latin typeface="Liberation Serif" pitchFamily="34" charset="0"/>
                <a:ea typeface="Liberation Serif" pitchFamily="34" charset="-122"/>
                <a:cs typeface="Liberation Serif" pitchFamily="34" charset="-120"/>
              </a:rPr>
              <a:t>Captain Hensel Bullard</a:t>
            </a:r>
            <a:endParaRPr lang="en-US" sz="1650" dirty="0"/>
          </a:p>
        </p:txBody>
      </p:sp>
      <p:sp>
        <p:nvSpPr>
          <p:cNvPr id="15" name="Shape 13"/>
          <p:cNvSpPr/>
          <p:nvPr/>
        </p:nvSpPr>
        <p:spPr>
          <a:xfrm>
            <a:off x="8842248" y="3017520"/>
            <a:ext cx="365760" cy="14630"/>
          </a:xfrm>
          <a:prstGeom prst="rect">
            <a:avLst/>
          </a:prstGeom>
          <a:solidFill>
            <a:srgbClr val="C9A227"/>
          </a:solidFill>
          <a:ln/>
        </p:spPr>
        <p:txBody>
          <a:bodyPr/>
          <a:lstStyle/>
          <a:p>
            <a:endParaRPr lang="en-US"/>
          </a:p>
        </p:txBody>
      </p:sp>
      <p:sp>
        <p:nvSpPr>
          <p:cNvPr id="16" name="Text 14"/>
          <p:cNvSpPr/>
          <p:nvPr/>
        </p:nvSpPr>
        <p:spPr>
          <a:xfrm>
            <a:off x="8842248" y="3163824"/>
            <a:ext cx="2468880" cy="566928"/>
          </a:xfrm>
          <a:prstGeom prst="rect">
            <a:avLst/>
          </a:prstGeom>
          <a:noFill/>
          <a:ln/>
        </p:spPr>
        <p:txBody>
          <a:bodyPr wrap="square" rtlCol="0" anchor="ctr"/>
          <a:lstStyle/>
          <a:p>
            <a:pPr marL="0" indent="0">
              <a:lnSpc>
                <a:spcPct val="102000"/>
              </a:lnSpc>
              <a:buNone/>
            </a:pPr>
            <a:r>
              <a:rPr lang="en-US" sz="1900" b="1" dirty="0">
                <a:solidFill>
                  <a:srgbClr val="FFFFFF"/>
                </a:solidFill>
                <a:latin typeface="Liberation Sans" pitchFamily="34" charset="0"/>
                <a:ea typeface="Liberation Sans" pitchFamily="34" charset="-122"/>
                <a:cs typeface="Liberation Sans" pitchFamily="34" charset="-120"/>
              </a:rPr>
              <a:t>10,500+</a:t>
            </a:r>
            <a:endParaRPr lang="en-US" sz="1900" dirty="0"/>
          </a:p>
          <a:p>
            <a:pPr marL="0" indent="0">
              <a:lnSpc>
                <a:spcPct val="102000"/>
              </a:lnSpc>
              <a:buNone/>
            </a:pPr>
            <a:r>
              <a:rPr lang="en-US" sz="950" dirty="0">
                <a:solidFill>
                  <a:srgbClr val="AEB9CC"/>
                </a:solidFill>
                <a:latin typeface="Liberation Sans" pitchFamily="34" charset="0"/>
                <a:ea typeface="Liberation Sans" pitchFamily="34" charset="-122"/>
                <a:cs typeface="Liberation Sans" pitchFamily="34" charset="-120"/>
              </a:rPr>
              <a:t>flight hours</a:t>
            </a:r>
            <a:endParaRPr lang="en-US" sz="1900" dirty="0"/>
          </a:p>
        </p:txBody>
      </p:sp>
      <p:sp>
        <p:nvSpPr>
          <p:cNvPr id="17" name="Text 15"/>
          <p:cNvSpPr/>
          <p:nvPr/>
        </p:nvSpPr>
        <p:spPr>
          <a:xfrm>
            <a:off x="8842248" y="3785616"/>
            <a:ext cx="2468880" cy="713232"/>
          </a:xfrm>
          <a:prstGeom prst="rect">
            <a:avLst/>
          </a:prstGeom>
          <a:noFill/>
          <a:ln/>
        </p:spPr>
        <p:txBody>
          <a:bodyPr wrap="square" rtlCol="0" anchor="ctr"/>
          <a:lstStyle/>
          <a:p>
            <a:pPr marL="0" indent="0">
              <a:lnSpc>
                <a:spcPct val="105000"/>
              </a:lnSpc>
              <a:buNone/>
            </a:pPr>
            <a:r>
              <a:rPr lang="en-US" sz="1900" b="1" dirty="0">
                <a:solidFill>
                  <a:srgbClr val="FFFFFF"/>
                </a:solidFill>
                <a:latin typeface="Liberation Sans" pitchFamily="34" charset="0"/>
                <a:ea typeface="Liberation Sans" pitchFamily="34" charset="-122"/>
                <a:cs typeface="Liberation Sans" pitchFamily="34" charset="-120"/>
              </a:rPr>
              <a:t>30+</a:t>
            </a:r>
            <a:endParaRPr lang="en-US" sz="1900" dirty="0"/>
          </a:p>
          <a:p>
            <a:pPr marL="0" indent="0">
              <a:lnSpc>
                <a:spcPct val="105000"/>
              </a:lnSpc>
              <a:buNone/>
            </a:pPr>
            <a:r>
              <a:rPr lang="en-US" sz="950" dirty="0">
                <a:solidFill>
                  <a:srgbClr val="AEB9CC"/>
                </a:solidFill>
                <a:latin typeface="Liberation Sans" pitchFamily="34" charset="0"/>
                <a:ea typeface="Liberation Sans" pitchFamily="34" charset="-122"/>
                <a:cs typeface="Liberation Sans" pitchFamily="34" charset="-120"/>
              </a:rPr>
              <a:t>years of commercial aviation experience</a:t>
            </a:r>
            <a:endParaRPr lang="en-US" sz="1900" dirty="0"/>
          </a:p>
        </p:txBody>
      </p:sp>
      <p:sp>
        <p:nvSpPr>
          <p:cNvPr id="18" name="Text 16"/>
          <p:cNvSpPr/>
          <p:nvPr/>
        </p:nvSpPr>
        <p:spPr>
          <a:xfrm>
            <a:off x="8842248" y="4590288"/>
            <a:ext cx="2423160" cy="1051560"/>
          </a:xfrm>
          <a:prstGeom prst="rect">
            <a:avLst/>
          </a:prstGeom>
          <a:noFill/>
          <a:ln/>
        </p:spPr>
        <p:txBody>
          <a:bodyPr wrap="square" rtlCol="0" anchor="ctr"/>
          <a:lstStyle/>
          <a:p>
            <a:pPr marL="0" indent="0">
              <a:lnSpc>
                <a:spcPct val="128000"/>
              </a:lnSpc>
              <a:buNone/>
            </a:pPr>
            <a:r>
              <a:rPr lang="en-US" sz="950" dirty="0">
                <a:solidFill>
                  <a:srgbClr val="CBD3E1"/>
                </a:solidFill>
                <a:latin typeface="Liberation Sans" pitchFamily="34" charset="0"/>
                <a:ea typeface="Liberation Sans" pitchFamily="34" charset="-122"/>
                <a:cs typeface="Liberation Sans" pitchFamily="34" charset="-120"/>
              </a:rPr>
              <a:t>His operational leadership strengthens Zipline’s commitment to training, standardization and operational excellence.</a:t>
            </a:r>
            <a:endParaRPr lang="en-US" sz="950" dirty="0"/>
          </a:p>
        </p:txBody>
      </p:sp>
      <p:sp>
        <p:nvSpPr>
          <p:cNvPr id="19" name="Shape 17"/>
          <p:cNvSpPr/>
          <p:nvPr/>
        </p:nvSpPr>
        <p:spPr>
          <a:xfrm>
            <a:off x="640080" y="5806440"/>
            <a:ext cx="10908792" cy="777240"/>
          </a:xfrm>
          <a:prstGeom prst="rect">
            <a:avLst/>
          </a:prstGeom>
          <a:solidFill>
            <a:srgbClr val="F7F0DC"/>
          </a:solidFill>
          <a:ln/>
        </p:spPr>
        <p:txBody>
          <a:bodyPr/>
          <a:lstStyle/>
          <a:p>
            <a:endParaRPr lang="en-US"/>
          </a:p>
        </p:txBody>
      </p:sp>
      <p:sp>
        <p:nvSpPr>
          <p:cNvPr id="20" name="Text 18"/>
          <p:cNvSpPr/>
          <p:nvPr/>
        </p:nvSpPr>
        <p:spPr>
          <a:xfrm>
            <a:off x="914400" y="5943600"/>
            <a:ext cx="10378440" cy="548640"/>
          </a:xfrm>
          <a:prstGeom prst="rect">
            <a:avLst/>
          </a:prstGeom>
          <a:noFill/>
          <a:ln/>
        </p:spPr>
        <p:txBody>
          <a:bodyPr wrap="square" rtlCol="0" anchor="ctr"/>
          <a:lstStyle/>
          <a:p>
            <a:pPr marL="0" indent="0">
              <a:lnSpc>
                <a:spcPct val="125000"/>
              </a:lnSpc>
              <a:buNone/>
            </a:pPr>
            <a:r>
              <a:rPr lang="en-US" sz="1300" b="1" dirty="0">
                <a:solidFill>
                  <a:srgbClr val="13233D"/>
                </a:solidFill>
                <a:latin typeface="Liberation Sans" pitchFamily="34" charset="0"/>
                <a:ea typeface="Liberation Sans" pitchFamily="34" charset="-122"/>
                <a:cs typeface="Liberation Sans" pitchFamily="34" charset="-120"/>
              </a:rPr>
              <a:t>20,000+ combined flight hours. </a:t>
            </a:r>
            <a:r>
              <a:rPr lang="en-US" sz="1150" dirty="0">
                <a:solidFill>
                  <a:srgbClr val="5B4A1F"/>
                </a:solidFill>
                <a:latin typeface="Liberation Sans" pitchFamily="34" charset="0"/>
                <a:ea typeface="Liberation Sans" pitchFamily="34" charset="-122"/>
                <a:cs typeface="Liberation Sans" pitchFamily="34" charset="-120"/>
              </a:rPr>
              <a:t>Together, Zipline’s senior flight leadership provides exceptional operational experience and continuity.</a:t>
            </a:r>
            <a:endParaRPr lang="en-US" sz="1300" dirty="0"/>
          </a:p>
        </p:txBody>
      </p:sp>
      <p:sp>
        <p:nvSpPr>
          <p:cNvPr id="21" name="Text 19"/>
          <p:cNvSpPr/>
          <p:nvPr/>
        </p:nvSpPr>
        <p:spPr>
          <a:xfrm>
            <a:off x="548640" y="6455664"/>
            <a:ext cx="6400800" cy="274320"/>
          </a:xfrm>
          <a:prstGeom prst="rect">
            <a:avLst/>
          </a:prstGeom>
          <a:noFill/>
          <a:ln/>
        </p:spPr>
        <p:txBody>
          <a:bodyPr wrap="square" rtlCol="0" anchor="ctr"/>
          <a:lstStyle/>
          <a:p>
            <a:pPr marL="0" indent="0" algn="l">
              <a:buNone/>
            </a:pPr>
            <a:r>
              <a:rPr lang="en-US" sz="800" kern="0" spc="100" dirty="0">
                <a:solidFill>
                  <a:srgbClr val="9AA3B5"/>
                </a:solidFill>
                <a:latin typeface="Liberation Sans" pitchFamily="34" charset="0"/>
                <a:ea typeface="Liberation Sans" pitchFamily="34" charset="-122"/>
                <a:cs typeface="Liberation Sans" pitchFamily="34" charset="-120"/>
              </a:rPr>
              <a:t>ZIPLINE EXPRESS  ·  CONFIDENTIAL  ·  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rtlCol="0" anchor="ctr"/>
          <a:lstStyle/>
          <a:p>
            <a:pPr marL="0" indent="0" algn="l">
              <a:buNone/>
            </a:pPr>
            <a:r>
              <a:rPr lang="en-US" sz="1250" b="1" kern="0" spc="240" dirty="0">
                <a:solidFill>
                  <a:srgbClr val="C9A227"/>
                </a:solidFill>
                <a:latin typeface="Liberation Sans" pitchFamily="34" charset="0"/>
                <a:ea typeface="Liberation Sans" pitchFamily="34" charset="-122"/>
                <a:cs typeface="Liberation Sans" pitchFamily="34" charset="-120"/>
              </a:rPr>
              <a:t>OUR JOURNEY</a:t>
            </a:r>
            <a:endParaRPr lang="en-US" sz="1250" dirty="0"/>
          </a:p>
        </p:txBody>
      </p:sp>
      <p:sp>
        <p:nvSpPr>
          <p:cNvPr id="3" name="Text 1"/>
          <p:cNvSpPr/>
          <p:nvPr/>
        </p:nvSpPr>
        <p:spPr>
          <a:xfrm>
            <a:off x="640080" y="868680"/>
            <a:ext cx="7315200" cy="640080"/>
          </a:xfrm>
          <a:prstGeom prst="rect">
            <a:avLst/>
          </a:prstGeom>
          <a:noFill/>
          <a:ln/>
        </p:spPr>
        <p:txBody>
          <a:bodyPr wrap="square" rtlCol="0" anchor="ctr"/>
          <a:lstStyle/>
          <a:p>
            <a:pPr marL="0" indent="0">
              <a:buNone/>
            </a:pPr>
            <a:r>
              <a:rPr lang="en-US" sz="3000" dirty="0">
                <a:solidFill>
                  <a:srgbClr val="13233D"/>
                </a:solidFill>
                <a:latin typeface="Liberation Serif" pitchFamily="34" charset="0"/>
                <a:ea typeface="Liberation Serif" pitchFamily="34" charset="-122"/>
                <a:cs typeface="Liberation Serif" pitchFamily="34" charset="-120"/>
              </a:rPr>
              <a:t>Building an Airline</a:t>
            </a:r>
            <a:endParaRPr lang="en-US" sz="3000" dirty="0"/>
          </a:p>
        </p:txBody>
      </p:sp>
      <p:sp>
        <p:nvSpPr>
          <p:cNvPr id="4" name="Shape 2"/>
          <p:cNvSpPr/>
          <p:nvPr/>
        </p:nvSpPr>
        <p:spPr>
          <a:xfrm>
            <a:off x="822960" y="3749040"/>
            <a:ext cx="10515600" cy="20117"/>
          </a:xfrm>
          <a:prstGeom prst="rect">
            <a:avLst/>
          </a:prstGeom>
          <a:solidFill>
            <a:srgbClr val="DCE0E8"/>
          </a:solidFill>
          <a:ln/>
        </p:spPr>
        <p:txBody>
          <a:bodyPr/>
          <a:lstStyle/>
          <a:p>
            <a:endParaRPr lang="en-US"/>
          </a:p>
        </p:txBody>
      </p:sp>
      <p:sp>
        <p:nvSpPr>
          <p:cNvPr id="5" name="Shape 3"/>
          <p:cNvSpPr/>
          <p:nvPr/>
        </p:nvSpPr>
        <p:spPr>
          <a:xfrm>
            <a:off x="722376" y="3648456"/>
            <a:ext cx="201168" cy="201168"/>
          </a:xfrm>
          <a:prstGeom prst="ellipse">
            <a:avLst/>
          </a:prstGeom>
          <a:solidFill>
            <a:srgbClr val="13233D"/>
          </a:solidFill>
          <a:ln/>
        </p:spPr>
        <p:txBody>
          <a:bodyPr/>
          <a:lstStyle/>
          <a:p>
            <a:endParaRPr lang="en-US"/>
          </a:p>
        </p:txBody>
      </p:sp>
      <p:sp>
        <p:nvSpPr>
          <p:cNvPr id="6" name="Text 4"/>
          <p:cNvSpPr/>
          <p:nvPr/>
        </p:nvSpPr>
        <p:spPr>
          <a:xfrm>
            <a:off x="685800" y="3063240"/>
            <a:ext cx="1645920" cy="365760"/>
          </a:xfrm>
          <a:prstGeom prst="rect">
            <a:avLst/>
          </a:prstGeom>
          <a:noFill/>
          <a:ln/>
        </p:spPr>
        <p:txBody>
          <a:bodyPr wrap="square" rtlCol="0" anchor="ctr"/>
          <a:lstStyle/>
          <a:p>
            <a:pPr marL="0" indent="0" algn="l">
              <a:buNone/>
            </a:pPr>
            <a:r>
              <a:rPr lang="en-US" sz="1600" b="1" dirty="0">
                <a:solidFill>
                  <a:srgbClr val="13233D"/>
                </a:solidFill>
                <a:latin typeface="Liberation Serif" pitchFamily="34" charset="0"/>
                <a:ea typeface="Liberation Serif" pitchFamily="34" charset="-122"/>
                <a:cs typeface="Liberation Serif" pitchFamily="34" charset="-120"/>
              </a:rPr>
              <a:t>2017</a:t>
            </a:r>
            <a:endParaRPr lang="en-US" sz="1600" dirty="0"/>
          </a:p>
        </p:txBody>
      </p:sp>
      <p:sp>
        <p:nvSpPr>
          <p:cNvPr id="7" name="Text 5"/>
          <p:cNvSpPr/>
          <p:nvPr/>
        </p:nvSpPr>
        <p:spPr>
          <a:xfrm>
            <a:off x="685800" y="4005072"/>
            <a:ext cx="2011680" cy="594360"/>
          </a:xfrm>
          <a:prstGeom prst="rect">
            <a:avLst/>
          </a:prstGeom>
          <a:noFill/>
          <a:ln/>
        </p:spPr>
        <p:txBody>
          <a:bodyPr wrap="square" rtlCol="0" anchor="ctr"/>
          <a:lstStyle/>
          <a:p>
            <a:pPr marL="0" indent="0" algn="l">
              <a:lnSpc>
                <a:spcPct val="115000"/>
              </a:lnSpc>
              <a:buNone/>
            </a:pPr>
            <a:r>
              <a:rPr lang="en-US" sz="1100" b="1" dirty="0">
                <a:solidFill>
                  <a:srgbClr val="13233D"/>
                </a:solidFill>
                <a:latin typeface="Liberation Sans" pitchFamily="34" charset="0"/>
                <a:ea typeface="Liberation Sans" pitchFamily="34" charset="-122"/>
                <a:cs typeface="Liberation Sans" pitchFamily="34" charset="-120"/>
              </a:rPr>
              <a:t>Zipline Express Founded</a:t>
            </a:r>
            <a:endParaRPr lang="en-US" sz="1100" dirty="0"/>
          </a:p>
        </p:txBody>
      </p:sp>
      <p:sp>
        <p:nvSpPr>
          <p:cNvPr id="8" name="Shape 6"/>
          <p:cNvSpPr/>
          <p:nvPr/>
        </p:nvSpPr>
        <p:spPr>
          <a:xfrm>
            <a:off x="3351276" y="3648456"/>
            <a:ext cx="201168" cy="201168"/>
          </a:xfrm>
          <a:prstGeom prst="ellipse">
            <a:avLst/>
          </a:prstGeom>
          <a:solidFill>
            <a:srgbClr val="13233D"/>
          </a:solidFill>
          <a:ln/>
        </p:spPr>
        <p:txBody>
          <a:bodyPr/>
          <a:lstStyle/>
          <a:p>
            <a:endParaRPr lang="en-US"/>
          </a:p>
        </p:txBody>
      </p:sp>
      <p:sp>
        <p:nvSpPr>
          <p:cNvPr id="9" name="Text 7"/>
          <p:cNvSpPr/>
          <p:nvPr/>
        </p:nvSpPr>
        <p:spPr>
          <a:xfrm>
            <a:off x="2628900" y="3063240"/>
            <a:ext cx="1645920" cy="365760"/>
          </a:xfrm>
          <a:prstGeom prst="rect">
            <a:avLst/>
          </a:prstGeom>
          <a:noFill/>
          <a:ln/>
        </p:spPr>
        <p:txBody>
          <a:bodyPr wrap="square" rtlCol="0" anchor="ctr"/>
          <a:lstStyle/>
          <a:p>
            <a:pPr marL="0" indent="0" algn="ctr">
              <a:buNone/>
            </a:pPr>
            <a:r>
              <a:rPr lang="en-US" sz="1600" b="1" dirty="0">
                <a:solidFill>
                  <a:srgbClr val="13233D"/>
                </a:solidFill>
                <a:latin typeface="Liberation Serif" pitchFamily="34" charset="0"/>
                <a:ea typeface="Liberation Serif" pitchFamily="34" charset="-122"/>
                <a:cs typeface="Liberation Serif" pitchFamily="34" charset="-120"/>
              </a:rPr>
              <a:t>2019</a:t>
            </a:r>
            <a:endParaRPr lang="en-US" sz="1600" dirty="0"/>
          </a:p>
        </p:txBody>
      </p:sp>
      <p:sp>
        <p:nvSpPr>
          <p:cNvPr id="10" name="Text 8"/>
          <p:cNvSpPr/>
          <p:nvPr/>
        </p:nvSpPr>
        <p:spPr>
          <a:xfrm>
            <a:off x="2446020" y="4005072"/>
            <a:ext cx="2011680" cy="594360"/>
          </a:xfrm>
          <a:prstGeom prst="rect">
            <a:avLst/>
          </a:prstGeom>
          <a:noFill/>
          <a:ln/>
        </p:spPr>
        <p:txBody>
          <a:bodyPr wrap="square" rtlCol="0" anchor="ctr"/>
          <a:lstStyle/>
          <a:p>
            <a:pPr marL="0" indent="0" algn="ctr">
              <a:lnSpc>
                <a:spcPct val="115000"/>
              </a:lnSpc>
              <a:buNone/>
            </a:pPr>
            <a:r>
              <a:rPr lang="en-US" sz="1100" b="1" dirty="0">
                <a:solidFill>
                  <a:srgbClr val="13233D"/>
                </a:solidFill>
                <a:latin typeface="Liberation Sans" pitchFamily="34" charset="0"/>
                <a:ea typeface="Liberation Sans" pitchFamily="34" charset="-122"/>
                <a:cs typeface="Liberation Sans" pitchFamily="34" charset="-120"/>
              </a:rPr>
              <a:t>Cessna 402 Introduced</a:t>
            </a:r>
            <a:endParaRPr lang="en-US" sz="1100" dirty="0"/>
          </a:p>
        </p:txBody>
      </p:sp>
      <p:sp>
        <p:nvSpPr>
          <p:cNvPr id="11" name="Text 9"/>
          <p:cNvSpPr/>
          <p:nvPr/>
        </p:nvSpPr>
        <p:spPr>
          <a:xfrm>
            <a:off x="2446020" y="4526280"/>
            <a:ext cx="2011680" cy="640080"/>
          </a:xfrm>
          <a:prstGeom prst="rect">
            <a:avLst/>
          </a:prstGeom>
          <a:noFill/>
          <a:ln/>
        </p:spPr>
        <p:txBody>
          <a:bodyPr wrap="square" rtlCol="0" anchor="ctr"/>
          <a:lstStyle/>
          <a:p>
            <a:pPr marL="0" indent="0" algn="ctr">
              <a:lnSpc>
                <a:spcPct val="120000"/>
              </a:lnSpc>
              <a:buNone/>
            </a:pPr>
            <a:r>
              <a:rPr lang="en-US" sz="850" dirty="0">
                <a:solidFill>
                  <a:srgbClr val="62708A"/>
                </a:solidFill>
                <a:latin typeface="Liberation Sans" pitchFamily="34" charset="0"/>
                <a:ea typeface="Liberation Sans" pitchFamily="34" charset="-122"/>
                <a:cs typeface="Liberation Sans" pitchFamily="34" charset="-120"/>
              </a:rPr>
              <a:t>Commercial financing successfully serviced</a:t>
            </a:r>
            <a:endParaRPr lang="en-US" sz="850" dirty="0"/>
          </a:p>
        </p:txBody>
      </p:sp>
      <p:sp>
        <p:nvSpPr>
          <p:cNvPr id="12" name="Shape 10"/>
          <p:cNvSpPr/>
          <p:nvPr/>
        </p:nvSpPr>
        <p:spPr>
          <a:xfrm>
            <a:off x="5980176" y="3648456"/>
            <a:ext cx="201168" cy="201168"/>
          </a:xfrm>
          <a:prstGeom prst="ellipse">
            <a:avLst/>
          </a:prstGeom>
          <a:solidFill>
            <a:srgbClr val="13233D"/>
          </a:solidFill>
          <a:ln/>
        </p:spPr>
        <p:txBody>
          <a:bodyPr/>
          <a:lstStyle/>
          <a:p>
            <a:endParaRPr lang="en-US"/>
          </a:p>
        </p:txBody>
      </p:sp>
      <p:sp>
        <p:nvSpPr>
          <p:cNvPr id="13" name="Text 11"/>
          <p:cNvSpPr/>
          <p:nvPr/>
        </p:nvSpPr>
        <p:spPr>
          <a:xfrm>
            <a:off x="5257800" y="3063240"/>
            <a:ext cx="1645920" cy="365760"/>
          </a:xfrm>
          <a:prstGeom prst="rect">
            <a:avLst/>
          </a:prstGeom>
          <a:noFill/>
          <a:ln/>
        </p:spPr>
        <p:txBody>
          <a:bodyPr wrap="square" rtlCol="0" anchor="ctr"/>
          <a:lstStyle/>
          <a:p>
            <a:pPr marL="0" indent="0" algn="ctr">
              <a:buNone/>
            </a:pPr>
            <a:r>
              <a:rPr lang="en-US" sz="1600" b="1" dirty="0">
                <a:solidFill>
                  <a:srgbClr val="13233D"/>
                </a:solidFill>
                <a:latin typeface="Liberation Serif" pitchFamily="34" charset="0"/>
                <a:ea typeface="Liberation Serif" pitchFamily="34" charset="-122"/>
                <a:cs typeface="Liberation Serif" pitchFamily="34" charset="-120"/>
              </a:rPr>
              <a:t>2023</a:t>
            </a:r>
            <a:endParaRPr lang="en-US" sz="1600" dirty="0"/>
          </a:p>
        </p:txBody>
      </p:sp>
      <p:sp>
        <p:nvSpPr>
          <p:cNvPr id="14" name="Text 12"/>
          <p:cNvSpPr/>
          <p:nvPr/>
        </p:nvSpPr>
        <p:spPr>
          <a:xfrm>
            <a:off x="5074920" y="4005072"/>
            <a:ext cx="2011680" cy="594360"/>
          </a:xfrm>
          <a:prstGeom prst="rect">
            <a:avLst/>
          </a:prstGeom>
          <a:noFill/>
          <a:ln/>
        </p:spPr>
        <p:txBody>
          <a:bodyPr wrap="square" rtlCol="0" anchor="ctr"/>
          <a:lstStyle/>
          <a:p>
            <a:pPr marL="0" indent="0" algn="ctr">
              <a:lnSpc>
                <a:spcPct val="115000"/>
              </a:lnSpc>
              <a:buNone/>
            </a:pPr>
            <a:r>
              <a:rPr lang="en-US" sz="1100" b="1" dirty="0">
                <a:solidFill>
                  <a:srgbClr val="13233D"/>
                </a:solidFill>
                <a:latin typeface="Liberation Sans" pitchFamily="34" charset="0"/>
                <a:ea typeface="Liberation Sans" pitchFamily="34" charset="-122"/>
                <a:cs typeface="Liberation Sans" pitchFamily="34" charset="-120"/>
              </a:rPr>
              <a:t>King Air 100 Added</a:t>
            </a:r>
            <a:endParaRPr lang="en-US" sz="1100" dirty="0"/>
          </a:p>
        </p:txBody>
      </p:sp>
      <p:sp>
        <p:nvSpPr>
          <p:cNvPr id="15" name="Text 13"/>
          <p:cNvSpPr/>
          <p:nvPr/>
        </p:nvSpPr>
        <p:spPr>
          <a:xfrm>
            <a:off x="5074920" y="4526280"/>
            <a:ext cx="2011680" cy="640080"/>
          </a:xfrm>
          <a:prstGeom prst="rect">
            <a:avLst/>
          </a:prstGeom>
          <a:noFill/>
          <a:ln/>
        </p:spPr>
        <p:txBody>
          <a:bodyPr wrap="square" rtlCol="0" anchor="ctr"/>
          <a:lstStyle/>
          <a:p>
            <a:pPr marL="0" indent="0" algn="ctr">
              <a:lnSpc>
                <a:spcPct val="120000"/>
              </a:lnSpc>
              <a:buNone/>
            </a:pPr>
            <a:r>
              <a:rPr lang="en-US" sz="850" dirty="0">
                <a:solidFill>
                  <a:srgbClr val="62708A"/>
                </a:solidFill>
                <a:latin typeface="Liberation Sans" pitchFamily="34" charset="0"/>
                <a:ea typeface="Liberation Sans" pitchFamily="34" charset="-122"/>
                <a:cs typeface="Liberation Sans" pitchFamily="34" charset="-120"/>
              </a:rPr>
              <a:t>Commercial financing successfully serviced</a:t>
            </a:r>
            <a:endParaRPr lang="en-US" sz="850" dirty="0"/>
          </a:p>
        </p:txBody>
      </p:sp>
      <p:sp>
        <p:nvSpPr>
          <p:cNvPr id="16" name="Shape 14"/>
          <p:cNvSpPr/>
          <p:nvPr/>
        </p:nvSpPr>
        <p:spPr>
          <a:xfrm>
            <a:off x="8609076" y="3648456"/>
            <a:ext cx="201168" cy="201168"/>
          </a:xfrm>
          <a:prstGeom prst="ellipse">
            <a:avLst/>
          </a:prstGeom>
          <a:solidFill>
            <a:srgbClr val="C9A227"/>
          </a:solidFill>
          <a:ln/>
        </p:spPr>
        <p:txBody>
          <a:bodyPr/>
          <a:lstStyle/>
          <a:p>
            <a:endParaRPr lang="en-US"/>
          </a:p>
        </p:txBody>
      </p:sp>
      <p:sp>
        <p:nvSpPr>
          <p:cNvPr id="17" name="Text 15"/>
          <p:cNvSpPr/>
          <p:nvPr/>
        </p:nvSpPr>
        <p:spPr>
          <a:xfrm>
            <a:off x="7886700" y="3063240"/>
            <a:ext cx="1645920" cy="365760"/>
          </a:xfrm>
          <a:prstGeom prst="rect">
            <a:avLst/>
          </a:prstGeom>
          <a:noFill/>
          <a:ln/>
        </p:spPr>
        <p:txBody>
          <a:bodyPr wrap="square" rtlCol="0" anchor="ctr"/>
          <a:lstStyle/>
          <a:p>
            <a:pPr marL="0" indent="0" algn="ctr">
              <a:buNone/>
            </a:pPr>
            <a:r>
              <a:rPr lang="en-US" sz="1600" b="1" dirty="0">
                <a:solidFill>
                  <a:srgbClr val="C9A227"/>
                </a:solidFill>
                <a:latin typeface="Liberation Serif" pitchFamily="34" charset="0"/>
                <a:ea typeface="Liberation Serif" pitchFamily="34" charset="-122"/>
                <a:cs typeface="Liberation Serif" pitchFamily="34" charset="-120"/>
              </a:rPr>
              <a:t>2026</a:t>
            </a:r>
            <a:endParaRPr lang="en-US" sz="1600" dirty="0"/>
          </a:p>
        </p:txBody>
      </p:sp>
      <p:sp>
        <p:nvSpPr>
          <p:cNvPr id="18" name="Text 16"/>
          <p:cNvSpPr/>
          <p:nvPr/>
        </p:nvSpPr>
        <p:spPr>
          <a:xfrm>
            <a:off x="7703820" y="4005072"/>
            <a:ext cx="2011680" cy="594360"/>
          </a:xfrm>
          <a:prstGeom prst="rect">
            <a:avLst/>
          </a:prstGeom>
          <a:noFill/>
          <a:ln/>
        </p:spPr>
        <p:txBody>
          <a:bodyPr wrap="square" rtlCol="0" anchor="ctr"/>
          <a:lstStyle/>
          <a:p>
            <a:pPr marL="0" indent="0" algn="ctr">
              <a:lnSpc>
                <a:spcPct val="115000"/>
              </a:lnSpc>
              <a:buNone/>
            </a:pPr>
            <a:r>
              <a:rPr lang="en-US" sz="1100" b="1" dirty="0">
                <a:solidFill>
                  <a:srgbClr val="13233D"/>
                </a:solidFill>
                <a:latin typeface="Liberation Sans" pitchFamily="34" charset="0"/>
                <a:ea typeface="Liberation Sans" pitchFamily="34" charset="-122"/>
                <a:cs typeface="Liberation Sans" pitchFamily="34" charset="-120"/>
              </a:rPr>
              <a:t>New Aircraft Acquisition</a:t>
            </a:r>
            <a:endParaRPr lang="en-US" sz="1100" dirty="0"/>
          </a:p>
        </p:txBody>
      </p:sp>
      <p:sp>
        <p:nvSpPr>
          <p:cNvPr id="19" name="Text 17"/>
          <p:cNvSpPr/>
          <p:nvPr/>
        </p:nvSpPr>
        <p:spPr>
          <a:xfrm>
            <a:off x="7703820" y="4526280"/>
            <a:ext cx="2011680" cy="640080"/>
          </a:xfrm>
          <a:prstGeom prst="rect">
            <a:avLst/>
          </a:prstGeom>
          <a:noFill/>
          <a:ln/>
        </p:spPr>
        <p:txBody>
          <a:bodyPr wrap="square" rtlCol="0" anchor="ctr"/>
          <a:lstStyle/>
          <a:p>
            <a:pPr marL="0" indent="0" algn="ctr">
              <a:lnSpc>
                <a:spcPct val="120000"/>
              </a:lnSpc>
              <a:buNone/>
            </a:pPr>
            <a:r>
              <a:rPr lang="en-US" sz="850" dirty="0">
                <a:solidFill>
                  <a:srgbClr val="62708A"/>
                </a:solidFill>
                <a:latin typeface="Liberation Sans" pitchFamily="34" charset="0"/>
                <a:ea typeface="Liberation Sans" pitchFamily="34" charset="-122"/>
                <a:cs typeface="Liberation Sans" pitchFamily="34" charset="-120"/>
              </a:rPr>
              <a:t>Twin Otter · Caravan · PC-12 · Kodiak</a:t>
            </a:r>
            <a:endParaRPr lang="en-US" sz="850" dirty="0"/>
          </a:p>
        </p:txBody>
      </p:sp>
      <p:sp>
        <p:nvSpPr>
          <p:cNvPr id="20" name="Shape 18"/>
          <p:cNvSpPr/>
          <p:nvPr/>
        </p:nvSpPr>
        <p:spPr>
          <a:xfrm>
            <a:off x="11237976" y="3648456"/>
            <a:ext cx="201168" cy="201168"/>
          </a:xfrm>
          <a:prstGeom prst="ellipse">
            <a:avLst/>
          </a:prstGeom>
          <a:solidFill>
            <a:srgbClr val="13233D"/>
          </a:solidFill>
          <a:ln/>
        </p:spPr>
        <p:txBody>
          <a:bodyPr/>
          <a:lstStyle/>
          <a:p>
            <a:endParaRPr lang="en-US"/>
          </a:p>
        </p:txBody>
      </p:sp>
      <p:sp>
        <p:nvSpPr>
          <p:cNvPr id="21" name="Text 19"/>
          <p:cNvSpPr/>
          <p:nvPr/>
        </p:nvSpPr>
        <p:spPr>
          <a:xfrm>
            <a:off x="9829800" y="3063240"/>
            <a:ext cx="1645920" cy="365760"/>
          </a:xfrm>
          <a:prstGeom prst="rect">
            <a:avLst/>
          </a:prstGeom>
          <a:noFill/>
          <a:ln/>
        </p:spPr>
        <p:txBody>
          <a:bodyPr wrap="square" rtlCol="0" anchor="ctr"/>
          <a:lstStyle/>
          <a:p>
            <a:pPr marL="0" indent="0" algn="r">
              <a:buNone/>
            </a:pPr>
            <a:r>
              <a:rPr lang="en-US" sz="1600" b="1" dirty="0">
                <a:solidFill>
                  <a:srgbClr val="13233D"/>
                </a:solidFill>
                <a:latin typeface="Liberation Serif" pitchFamily="34" charset="0"/>
                <a:ea typeface="Liberation Serif" pitchFamily="34" charset="-122"/>
                <a:cs typeface="Liberation Serif" pitchFamily="34" charset="-120"/>
              </a:rPr>
              <a:t>FUTURE</a:t>
            </a:r>
            <a:endParaRPr lang="en-US" sz="1600" dirty="0"/>
          </a:p>
        </p:txBody>
      </p:sp>
      <p:sp>
        <p:nvSpPr>
          <p:cNvPr id="22" name="Text 20"/>
          <p:cNvSpPr/>
          <p:nvPr/>
        </p:nvSpPr>
        <p:spPr>
          <a:xfrm>
            <a:off x="9464040" y="4005072"/>
            <a:ext cx="2011680" cy="594360"/>
          </a:xfrm>
          <a:prstGeom prst="rect">
            <a:avLst/>
          </a:prstGeom>
          <a:noFill/>
          <a:ln/>
        </p:spPr>
        <p:txBody>
          <a:bodyPr wrap="square" rtlCol="0" anchor="ctr"/>
          <a:lstStyle/>
          <a:p>
            <a:pPr marL="0" indent="0" algn="r">
              <a:lnSpc>
                <a:spcPct val="115000"/>
              </a:lnSpc>
              <a:buNone/>
            </a:pPr>
            <a:r>
              <a:rPr lang="en-US" sz="1100" b="1" dirty="0">
                <a:solidFill>
                  <a:srgbClr val="13233D"/>
                </a:solidFill>
                <a:latin typeface="Liberation Sans" pitchFamily="34" charset="0"/>
                <a:ea typeface="Liberation Sans" pitchFamily="34" charset="-122"/>
                <a:cs typeface="Liberation Sans" pitchFamily="34" charset="-120"/>
              </a:rPr>
              <a:t>Scheduled Regional Airline</a:t>
            </a:r>
            <a:endParaRPr lang="en-US" sz="1100" dirty="0"/>
          </a:p>
        </p:txBody>
      </p:sp>
      <p:sp>
        <p:nvSpPr>
          <p:cNvPr id="23" name="Shape 21"/>
          <p:cNvSpPr/>
          <p:nvPr/>
        </p:nvSpPr>
        <p:spPr>
          <a:xfrm>
            <a:off x="1463040" y="5806440"/>
            <a:ext cx="9235440" cy="18288"/>
          </a:xfrm>
          <a:prstGeom prst="rect">
            <a:avLst/>
          </a:prstGeom>
          <a:solidFill>
            <a:srgbClr val="DCE0E8"/>
          </a:solidFill>
          <a:ln/>
        </p:spPr>
        <p:txBody>
          <a:bodyPr/>
          <a:lstStyle/>
          <a:p>
            <a:endParaRPr lang="en-US"/>
          </a:p>
        </p:txBody>
      </p:sp>
      <p:sp>
        <p:nvSpPr>
          <p:cNvPr id="24" name="Text 22"/>
          <p:cNvSpPr/>
          <p:nvPr/>
        </p:nvSpPr>
        <p:spPr>
          <a:xfrm>
            <a:off x="640080" y="5943600"/>
            <a:ext cx="10881360" cy="457200"/>
          </a:xfrm>
          <a:prstGeom prst="rect">
            <a:avLst/>
          </a:prstGeom>
          <a:noFill/>
          <a:ln/>
        </p:spPr>
        <p:txBody>
          <a:bodyPr wrap="square" rtlCol="0" anchor="ctr"/>
          <a:lstStyle/>
          <a:p>
            <a:pPr marL="0" indent="0" algn="ctr">
              <a:buNone/>
            </a:pPr>
            <a:r>
              <a:rPr lang="en-US" sz="1600" i="1" dirty="0">
                <a:solidFill>
                  <a:srgbClr val="13233D"/>
                </a:solidFill>
                <a:latin typeface="Liberation Serif" pitchFamily="34" charset="0"/>
                <a:ea typeface="Liberation Serif" pitchFamily="34" charset="-122"/>
                <a:cs typeface="Liberation Serif" pitchFamily="34" charset="-120"/>
              </a:rPr>
              <a:t>Disciplined growth. Proven execution. Long-term vision.</a:t>
            </a:r>
            <a:endParaRPr lang="en-US" sz="1600" dirty="0"/>
          </a:p>
        </p:txBody>
      </p:sp>
      <p:sp>
        <p:nvSpPr>
          <p:cNvPr id="25" name="Text 23"/>
          <p:cNvSpPr/>
          <p:nvPr/>
        </p:nvSpPr>
        <p:spPr>
          <a:xfrm>
            <a:off x="548640" y="6455664"/>
            <a:ext cx="6400800" cy="274320"/>
          </a:xfrm>
          <a:prstGeom prst="rect">
            <a:avLst/>
          </a:prstGeom>
          <a:noFill/>
          <a:ln/>
        </p:spPr>
        <p:txBody>
          <a:bodyPr wrap="square" rtlCol="0" anchor="ctr"/>
          <a:lstStyle/>
          <a:p>
            <a:pPr marL="0" indent="0" algn="l">
              <a:buNone/>
            </a:pPr>
            <a:r>
              <a:rPr lang="en-US" sz="800" kern="0" spc="100" dirty="0">
                <a:solidFill>
                  <a:srgbClr val="9AA3B5"/>
                </a:solidFill>
                <a:latin typeface="Liberation Sans" pitchFamily="34" charset="0"/>
                <a:ea typeface="Liberation Sans" pitchFamily="34" charset="-122"/>
                <a:cs typeface="Liberation Sans" pitchFamily="34" charset="-120"/>
              </a:rPr>
              <a:t>ZIPLINE EXPRESS  ·  CONFIDENTIAL  ·  06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rtlCol="0" anchor="ctr"/>
          <a:lstStyle/>
          <a:p>
            <a:pPr marL="0" indent="0" algn="l">
              <a:buNone/>
            </a:pPr>
            <a:r>
              <a:rPr lang="en-US" sz="1250" b="1" kern="0" spc="240" dirty="0">
                <a:solidFill>
                  <a:srgbClr val="C9A227"/>
                </a:solidFill>
                <a:latin typeface="Liberation Sans" pitchFamily="34" charset="0"/>
                <a:ea typeface="Liberation Sans" pitchFamily="34" charset="-122"/>
                <a:cs typeface="Liberation Sans" pitchFamily="34" charset="-120"/>
              </a:rPr>
              <a:t>OUR NETWORK</a:t>
            </a:r>
            <a:endParaRPr lang="en-US" sz="1250" dirty="0"/>
          </a:p>
        </p:txBody>
      </p:sp>
      <p:sp>
        <p:nvSpPr>
          <p:cNvPr id="3" name="Text 1"/>
          <p:cNvSpPr/>
          <p:nvPr/>
        </p:nvSpPr>
        <p:spPr>
          <a:xfrm>
            <a:off x="640080" y="868680"/>
            <a:ext cx="5669280" cy="1188720"/>
          </a:xfrm>
          <a:prstGeom prst="rect">
            <a:avLst/>
          </a:prstGeom>
          <a:noFill/>
          <a:ln/>
        </p:spPr>
        <p:txBody>
          <a:bodyPr wrap="square" rtlCol="0" anchor="ctr"/>
          <a:lstStyle/>
          <a:p>
            <a:pPr marL="0" indent="0">
              <a:lnSpc>
                <a:spcPct val="110000"/>
              </a:lnSpc>
              <a:buNone/>
            </a:pPr>
            <a:r>
              <a:rPr lang="en-US" sz="2800" dirty="0">
                <a:solidFill>
                  <a:srgbClr val="13233D"/>
                </a:solidFill>
                <a:latin typeface="Liberation Serif" pitchFamily="34" charset="0"/>
                <a:ea typeface="Liberation Serif" pitchFamily="34" charset="-122"/>
                <a:cs typeface="Liberation Serif" pitchFamily="34" charset="-120"/>
              </a:rPr>
              <a:t>Connecting The Bahamas</a:t>
            </a:r>
            <a:endParaRPr lang="en-US" sz="2800" dirty="0"/>
          </a:p>
        </p:txBody>
      </p:sp>
      <p:sp>
        <p:nvSpPr>
          <p:cNvPr id="4" name="Text 2"/>
          <p:cNvSpPr/>
          <p:nvPr/>
        </p:nvSpPr>
        <p:spPr>
          <a:xfrm>
            <a:off x="640080" y="1828800"/>
            <a:ext cx="5029200" cy="1828800"/>
          </a:xfrm>
          <a:prstGeom prst="rect">
            <a:avLst/>
          </a:prstGeom>
          <a:noFill/>
          <a:ln/>
        </p:spPr>
        <p:txBody>
          <a:bodyPr wrap="square" rtlCol="0" anchor="ctr"/>
          <a:lstStyle/>
          <a:p>
            <a:pPr marL="0" indent="0">
              <a:lnSpc>
                <a:spcPct val="135000"/>
              </a:lnSpc>
              <a:buNone/>
            </a:pPr>
            <a:r>
              <a:rPr lang="en-US" sz="1250" dirty="0">
                <a:solidFill>
                  <a:srgbClr val="1B2740"/>
                </a:solidFill>
                <a:latin typeface="Liberation Sans" pitchFamily="34" charset="0"/>
                <a:ea typeface="Liberation Sans" pitchFamily="34" charset="-122"/>
                <a:cs typeface="Liberation Sans" pitchFamily="34" charset="-120"/>
              </a:rPr>
              <a:t>For nearly a decade, Zipline Express has connected communities throughout The Bahamas through reliable charter operations — building the operational experience, market knowledge and customer relationships that support the Company's planned expansion into scheduled passenger service.</a:t>
            </a:r>
            <a:endParaRPr lang="en-US" sz="1250" dirty="0"/>
          </a:p>
        </p:txBody>
      </p:sp>
      <p:sp>
        <p:nvSpPr>
          <p:cNvPr id="5" name="Text 3"/>
          <p:cNvSpPr/>
          <p:nvPr/>
        </p:nvSpPr>
        <p:spPr>
          <a:xfrm>
            <a:off x="640080" y="3977640"/>
            <a:ext cx="2377440" cy="502920"/>
          </a:xfrm>
          <a:prstGeom prst="rect">
            <a:avLst/>
          </a:prstGeom>
          <a:noFill/>
          <a:ln/>
        </p:spPr>
        <p:txBody>
          <a:bodyPr wrap="square" rtlCol="0" anchor="ctr"/>
          <a:lstStyle/>
          <a:p>
            <a:pPr marL="0" indent="0">
              <a:buNone/>
            </a:pPr>
            <a:r>
              <a:rPr lang="en-US" sz="2600" b="1" dirty="0">
                <a:solidFill>
                  <a:srgbClr val="C9A227"/>
                </a:solidFill>
                <a:latin typeface="Liberation Serif" pitchFamily="34" charset="0"/>
                <a:ea typeface="Liberation Serif" pitchFamily="34" charset="-122"/>
                <a:cs typeface="Liberation Serif" pitchFamily="34" charset="-120"/>
              </a:rPr>
              <a:t>32,400+</a:t>
            </a:r>
            <a:endParaRPr lang="en-US" sz="2600" dirty="0"/>
          </a:p>
        </p:txBody>
      </p:sp>
      <p:sp>
        <p:nvSpPr>
          <p:cNvPr id="6" name="Text 4"/>
          <p:cNvSpPr/>
          <p:nvPr/>
        </p:nvSpPr>
        <p:spPr>
          <a:xfrm>
            <a:off x="640080" y="4507992"/>
            <a:ext cx="2926080" cy="274320"/>
          </a:xfrm>
          <a:prstGeom prst="rect">
            <a:avLst/>
          </a:prstGeom>
          <a:noFill/>
          <a:ln/>
        </p:spPr>
        <p:txBody>
          <a:bodyPr wrap="square" rtlCol="0" anchor="ctr"/>
          <a:lstStyle/>
          <a:p>
            <a:pPr marL="0" indent="0">
              <a:buNone/>
            </a:pPr>
            <a:r>
              <a:rPr lang="en-US" sz="1000" kern="0" spc="120" dirty="0">
                <a:solidFill>
                  <a:srgbClr val="62708A"/>
                </a:solidFill>
                <a:latin typeface="Liberation Sans" pitchFamily="34" charset="0"/>
                <a:ea typeface="Liberation Sans" pitchFamily="34" charset="-122"/>
                <a:cs typeface="Liberation Sans" pitchFamily="34" charset="-120"/>
              </a:rPr>
              <a:t>PASSENGERS</a:t>
            </a:r>
            <a:endParaRPr lang="en-US" sz="1000" dirty="0"/>
          </a:p>
        </p:txBody>
      </p:sp>
      <p:sp>
        <p:nvSpPr>
          <p:cNvPr id="7" name="Text 5"/>
          <p:cNvSpPr/>
          <p:nvPr/>
        </p:nvSpPr>
        <p:spPr>
          <a:xfrm>
            <a:off x="640080" y="4846320"/>
            <a:ext cx="2377440" cy="502920"/>
          </a:xfrm>
          <a:prstGeom prst="rect">
            <a:avLst/>
          </a:prstGeom>
          <a:noFill/>
          <a:ln/>
        </p:spPr>
        <p:txBody>
          <a:bodyPr wrap="square" rtlCol="0" anchor="ctr"/>
          <a:lstStyle/>
          <a:p>
            <a:pPr marL="0" indent="0">
              <a:buNone/>
            </a:pPr>
            <a:r>
              <a:rPr lang="en-US" sz="2600" b="1" dirty="0">
                <a:solidFill>
                  <a:srgbClr val="C9A227"/>
                </a:solidFill>
                <a:latin typeface="Liberation Serif" pitchFamily="34" charset="0"/>
                <a:ea typeface="Liberation Serif" pitchFamily="34" charset="-122"/>
                <a:cs typeface="Liberation Serif" pitchFamily="34" charset="-120"/>
              </a:rPr>
              <a:t>2,700</a:t>
            </a:r>
            <a:endParaRPr lang="en-US" sz="2600" dirty="0"/>
          </a:p>
        </p:txBody>
      </p:sp>
      <p:sp>
        <p:nvSpPr>
          <p:cNvPr id="8" name="Text 6"/>
          <p:cNvSpPr/>
          <p:nvPr/>
        </p:nvSpPr>
        <p:spPr>
          <a:xfrm>
            <a:off x="640080" y="5376672"/>
            <a:ext cx="2926080" cy="274320"/>
          </a:xfrm>
          <a:prstGeom prst="rect">
            <a:avLst/>
          </a:prstGeom>
          <a:noFill/>
          <a:ln/>
        </p:spPr>
        <p:txBody>
          <a:bodyPr wrap="square" rtlCol="0" anchor="ctr"/>
          <a:lstStyle/>
          <a:p>
            <a:pPr marL="0" indent="0">
              <a:buNone/>
            </a:pPr>
            <a:r>
              <a:rPr lang="en-US" sz="1000" kern="0" spc="120" dirty="0">
                <a:solidFill>
                  <a:srgbClr val="62708A"/>
                </a:solidFill>
                <a:latin typeface="Liberation Sans" pitchFamily="34" charset="0"/>
                <a:ea typeface="Liberation Sans" pitchFamily="34" charset="-122"/>
                <a:cs typeface="Liberation Sans" pitchFamily="34" charset="-120"/>
              </a:rPr>
              <a:t>COMMERCIAL FLIGHTS</a:t>
            </a:r>
            <a:endParaRPr lang="en-US" sz="1000" dirty="0"/>
          </a:p>
        </p:txBody>
      </p:sp>
      <p:sp>
        <p:nvSpPr>
          <p:cNvPr id="9" name="Text 7"/>
          <p:cNvSpPr/>
          <p:nvPr/>
        </p:nvSpPr>
        <p:spPr>
          <a:xfrm>
            <a:off x="640080" y="5715000"/>
            <a:ext cx="2377440" cy="502920"/>
          </a:xfrm>
          <a:prstGeom prst="rect">
            <a:avLst/>
          </a:prstGeom>
          <a:noFill/>
          <a:ln/>
        </p:spPr>
        <p:txBody>
          <a:bodyPr wrap="square" rtlCol="0" anchor="ctr"/>
          <a:lstStyle/>
          <a:p>
            <a:pPr marL="0" indent="0">
              <a:buNone/>
            </a:pPr>
            <a:r>
              <a:rPr lang="en-US" sz="2600" b="1" dirty="0">
                <a:solidFill>
                  <a:srgbClr val="C9A227"/>
                </a:solidFill>
                <a:latin typeface="Liberation Serif" pitchFamily="34" charset="0"/>
                <a:ea typeface="Liberation Serif" pitchFamily="34" charset="-122"/>
                <a:cs typeface="Liberation Serif" pitchFamily="34" charset="-120"/>
              </a:rPr>
              <a:t>2017</a:t>
            </a:r>
            <a:endParaRPr lang="en-US" sz="2600" dirty="0"/>
          </a:p>
        </p:txBody>
      </p:sp>
      <p:sp>
        <p:nvSpPr>
          <p:cNvPr id="10" name="Text 8"/>
          <p:cNvSpPr/>
          <p:nvPr/>
        </p:nvSpPr>
        <p:spPr>
          <a:xfrm>
            <a:off x="640080" y="6245352"/>
            <a:ext cx="2926080" cy="274320"/>
          </a:xfrm>
          <a:prstGeom prst="rect">
            <a:avLst/>
          </a:prstGeom>
          <a:noFill/>
          <a:ln/>
        </p:spPr>
        <p:txBody>
          <a:bodyPr wrap="square" rtlCol="0" anchor="ctr"/>
          <a:lstStyle/>
          <a:p>
            <a:pPr marL="0" indent="0">
              <a:buNone/>
            </a:pPr>
            <a:r>
              <a:rPr lang="en-US" sz="1000" kern="0" spc="120" dirty="0">
                <a:solidFill>
                  <a:srgbClr val="62708A"/>
                </a:solidFill>
                <a:latin typeface="Liberation Sans" pitchFamily="34" charset="0"/>
                <a:ea typeface="Liberation Sans" pitchFamily="34" charset="-122"/>
                <a:cs typeface="Liberation Sans" pitchFamily="34" charset="-120"/>
              </a:rPr>
              <a:t>SERVING THE BAHAMAS</a:t>
            </a:r>
            <a:endParaRPr lang="en-US" sz="1000" dirty="0"/>
          </a:p>
        </p:txBody>
      </p:sp>
      <p:pic>
        <p:nvPicPr>
          <p:cNvPr id="11" name="Image 0" descr="assets/routemap.png"/>
          <p:cNvPicPr>
            <a:picLocks noChangeAspect="1"/>
          </p:cNvPicPr>
          <p:nvPr/>
        </p:nvPicPr>
        <p:blipFill>
          <a:blip r:embed="rId3"/>
          <a:stretch>
            <a:fillRect/>
          </a:stretch>
        </p:blipFill>
        <p:spPr>
          <a:xfrm>
            <a:off x="5989320" y="457200"/>
            <a:ext cx="5806440" cy="5806440"/>
          </a:xfrm>
          <a:prstGeom prst="rect">
            <a:avLst/>
          </a:prstGeom>
        </p:spPr>
      </p:pic>
      <p:sp>
        <p:nvSpPr>
          <p:cNvPr id="12" name="Text 9"/>
          <p:cNvSpPr/>
          <p:nvPr/>
        </p:nvSpPr>
        <p:spPr>
          <a:xfrm>
            <a:off x="548640" y="6455664"/>
            <a:ext cx="6400800" cy="274320"/>
          </a:xfrm>
          <a:prstGeom prst="rect">
            <a:avLst/>
          </a:prstGeom>
          <a:noFill/>
          <a:ln/>
        </p:spPr>
        <p:txBody>
          <a:bodyPr wrap="square" rtlCol="0" anchor="ctr"/>
          <a:lstStyle/>
          <a:p>
            <a:pPr marL="0" indent="0" algn="l">
              <a:buNone/>
            </a:pPr>
            <a:r>
              <a:rPr lang="en-US" sz="800" kern="0" spc="100" dirty="0">
                <a:solidFill>
                  <a:srgbClr val="9AA3B5"/>
                </a:solidFill>
                <a:latin typeface="Liberation Sans" pitchFamily="34" charset="0"/>
                <a:ea typeface="Liberation Sans" pitchFamily="34" charset="-122"/>
                <a:cs typeface="Liberation Sans" pitchFamily="34" charset="-120"/>
              </a:rPr>
              <a:t>ZIPLINE EXPRESS  ·  CONFIDENTIAL  ·  07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rtlCol="0" anchor="ctr"/>
          <a:lstStyle/>
          <a:p>
            <a:pPr marL="0" indent="0" algn="l">
              <a:buNone/>
            </a:pPr>
            <a:r>
              <a:rPr lang="en-US" sz="1250" b="1" kern="0" spc="240" dirty="0">
                <a:solidFill>
                  <a:srgbClr val="C9A227"/>
                </a:solidFill>
                <a:latin typeface="Liberation Sans" pitchFamily="34" charset="0"/>
                <a:ea typeface="Liberation Sans" pitchFamily="34" charset="-122"/>
                <a:cs typeface="Liberation Sans" pitchFamily="34" charset="-120"/>
              </a:rPr>
              <a:t>OUR FLEET</a:t>
            </a:r>
            <a:endParaRPr lang="en-US" sz="1250" dirty="0"/>
          </a:p>
        </p:txBody>
      </p:sp>
      <p:sp>
        <p:nvSpPr>
          <p:cNvPr id="3" name="Text 1"/>
          <p:cNvSpPr/>
          <p:nvPr/>
        </p:nvSpPr>
        <p:spPr>
          <a:xfrm>
            <a:off x="640080" y="868680"/>
            <a:ext cx="7315200" cy="640080"/>
          </a:xfrm>
          <a:prstGeom prst="rect">
            <a:avLst/>
          </a:prstGeom>
          <a:noFill/>
          <a:ln/>
        </p:spPr>
        <p:txBody>
          <a:bodyPr wrap="square" rtlCol="0" anchor="ctr"/>
          <a:lstStyle/>
          <a:p>
            <a:pPr marL="0" indent="0">
              <a:buNone/>
            </a:pPr>
            <a:r>
              <a:rPr lang="en-US" sz="3000" dirty="0">
                <a:solidFill>
                  <a:srgbClr val="13233D"/>
                </a:solidFill>
                <a:latin typeface="Liberation Serif" pitchFamily="34" charset="0"/>
                <a:ea typeface="Liberation Serif" pitchFamily="34" charset="-122"/>
                <a:cs typeface="Liberation Serif" pitchFamily="34" charset="-120"/>
              </a:rPr>
              <a:t>Building Our Fleet</a:t>
            </a:r>
            <a:endParaRPr lang="en-US" sz="3000" dirty="0"/>
          </a:p>
        </p:txBody>
      </p:sp>
      <p:pic>
        <p:nvPicPr>
          <p:cNvPr id="4" name="Image 0" descr="assets/crop_fleet_cessna.jpg"/>
          <p:cNvPicPr>
            <a:picLocks noChangeAspect="1"/>
          </p:cNvPicPr>
          <p:nvPr/>
        </p:nvPicPr>
        <p:blipFill>
          <a:blip r:embed="rId3"/>
          <a:stretch>
            <a:fillRect/>
          </a:stretch>
        </p:blipFill>
        <p:spPr>
          <a:xfrm>
            <a:off x="640080" y="1828800"/>
            <a:ext cx="3520440" cy="2057400"/>
          </a:xfrm>
          <a:prstGeom prst="rect">
            <a:avLst/>
          </a:prstGeom>
        </p:spPr>
      </p:pic>
      <p:sp>
        <p:nvSpPr>
          <p:cNvPr id="5" name="Shape 2"/>
          <p:cNvSpPr/>
          <p:nvPr/>
        </p:nvSpPr>
        <p:spPr>
          <a:xfrm>
            <a:off x="640080" y="3886200"/>
            <a:ext cx="3520440" cy="548640"/>
          </a:xfrm>
          <a:prstGeom prst="rect">
            <a:avLst/>
          </a:prstGeom>
          <a:solidFill>
            <a:srgbClr val="F6F7F9"/>
          </a:solidFill>
          <a:ln/>
        </p:spPr>
        <p:txBody>
          <a:bodyPr/>
          <a:lstStyle/>
          <a:p>
            <a:endParaRPr lang="en-US"/>
          </a:p>
        </p:txBody>
      </p:sp>
      <p:sp>
        <p:nvSpPr>
          <p:cNvPr id="6" name="Text 3"/>
          <p:cNvSpPr/>
          <p:nvPr/>
        </p:nvSpPr>
        <p:spPr>
          <a:xfrm>
            <a:off x="896112" y="4069080"/>
            <a:ext cx="3008376" cy="274320"/>
          </a:xfrm>
          <a:prstGeom prst="rect">
            <a:avLst/>
          </a:prstGeom>
          <a:noFill/>
          <a:ln/>
        </p:spPr>
        <p:txBody>
          <a:bodyPr wrap="square" rtlCol="0" anchor="ctr"/>
          <a:lstStyle/>
          <a:p>
            <a:pPr marL="0" indent="0">
              <a:buNone/>
            </a:pPr>
            <a:r>
              <a:rPr lang="en-US" sz="1000" b="1" kern="0" spc="140" dirty="0">
                <a:solidFill>
                  <a:srgbClr val="C9A227"/>
                </a:solidFill>
                <a:latin typeface="Liberation Sans" pitchFamily="34" charset="0"/>
                <a:ea typeface="Liberation Sans" pitchFamily="34" charset="-122"/>
                <a:cs typeface="Liberation Sans" pitchFamily="34" charset="-120"/>
              </a:rPr>
              <a:t>WHERE WE STARTED</a:t>
            </a:r>
            <a:endParaRPr lang="en-US" sz="1000" dirty="0"/>
          </a:p>
        </p:txBody>
      </p:sp>
      <p:sp>
        <p:nvSpPr>
          <p:cNvPr id="7" name="Text 4"/>
          <p:cNvSpPr/>
          <p:nvPr/>
        </p:nvSpPr>
        <p:spPr>
          <a:xfrm>
            <a:off x="896112" y="4361688"/>
            <a:ext cx="3008376" cy="365760"/>
          </a:xfrm>
          <a:prstGeom prst="rect">
            <a:avLst/>
          </a:prstGeom>
          <a:noFill/>
          <a:ln/>
        </p:spPr>
        <p:txBody>
          <a:bodyPr wrap="square" rtlCol="0" anchor="ctr"/>
          <a:lstStyle/>
          <a:p>
            <a:pPr marL="0" indent="0">
              <a:buNone/>
            </a:pPr>
            <a:r>
              <a:rPr lang="en-US" sz="1800" b="1" dirty="0">
                <a:solidFill>
                  <a:srgbClr val="13233D"/>
                </a:solidFill>
                <a:latin typeface="Liberation Serif" pitchFamily="34" charset="0"/>
                <a:ea typeface="Liberation Serif" pitchFamily="34" charset="-122"/>
                <a:cs typeface="Liberation Serif" pitchFamily="34" charset="-120"/>
              </a:rPr>
              <a:t>Cessna 402</a:t>
            </a:r>
            <a:endParaRPr lang="en-US" sz="1800" dirty="0"/>
          </a:p>
        </p:txBody>
      </p:sp>
      <p:sp>
        <p:nvSpPr>
          <p:cNvPr id="8" name="Text 5"/>
          <p:cNvSpPr/>
          <p:nvPr/>
        </p:nvSpPr>
        <p:spPr>
          <a:xfrm>
            <a:off x="896112" y="4782312"/>
            <a:ext cx="3008376" cy="685800"/>
          </a:xfrm>
          <a:prstGeom prst="rect">
            <a:avLst/>
          </a:prstGeom>
          <a:noFill/>
          <a:ln/>
        </p:spPr>
        <p:txBody>
          <a:bodyPr wrap="square" rtlCol="0" anchor="ctr"/>
          <a:lstStyle/>
          <a:p>
            <a:pPr marL="0" indent="0">
              <a:lnSpc>
                <a:spcPct val="125000"/>
              </a:lnSpc>
              <a:buNone/>
            </a:pPr>
            <a:r>
              <a:rPr lang="en-US" sz="1050" dirty="0">
                <a:solidFill>
                  <a:srgbClr val="62708A"/>
                </a:solidFill>
                <a:latin typeface="Liberation Sans" pitchFamily="34" charset="0"/>
                <a:ea typeface="Liberation Sans" pitchFamily="34" charset="-122"/>
                <a:cs typeface="Liberation Sans" pitchFamily="34" charset="-120"/>
              </a:rPr>
              <a:t>The aircraft that established Zipline's reputation for dependable inter-island charter service.</a:t>
            </a:r>
            <a:endParaRPr lang="en-US" sz="1050" dirty="0"/>
          </a:p>
        </p:txBody>
      </p:sp>
      <p:pic>
        <p:nvPicPr>
          <p:cNvPr id="9" name="Image 1" descr="assets/crop_fleet_kingair.jpg"/>
          <p:cNvPicPr>
            <a:picLocks noChangeAspect="1"/>
          </p:cNvPicPr>
          <p:nvPr/>
        </p:nvPicPr>
        <p:blipFill>
          <a:blip r:embed="rId4"/>
          <a:stretch>
            <a:fillRect/>
          </a:stretch>
        </p:blipFill>
        <p:spPr>
          <a:xfrm>
            <a:off x="4389120" y="1828800"/>
            <a:ext cx="3520440" cy="2057400"/>
          </a:xfrm>
          <a:prstGeom prst="rect">
            <a:avLst/>
          </a:prstGeom>
        </p:spPr>
      </p:pic>
      <p:sp>
        <p:nvSpPr>
          <p:cNvPr id="10" name="Shape 6"/>
          <p:cNvSpPr/>
          <p:nvPr/>
        </p:nvSpPr>
        <p:spPr>
          <a:xfrm>
            <a:off x="4389120" y="3886200"/>
            <a:ext cx="3520440" cy="548640"/>
          </a:xfrm>
          <a:prstGeom prst="rect">
            <a:avLst/>
          </a:prstGeom>
          <a:solidFill>
            <a:srgbClr val="F6F7F9"/>
          </a:solidFill>
          <a:ln/>
        </p:spPr>
        <p:txBody>
          <a:bodyPr/>
          <a:lstStyle/>
          <a:p>
            <a:endParaRPr lang="en-US"/>
          </a:p>
        </p:txBody>
      </p:sp>
      <p:sp>
        <p:nvSpPr>
          <p:cNvPr id="11" name="Text 7"/>
          <p:cNvSpPr/>
          <p:nvPr/>
        </p:nvSpPr>
        <p:spPr>
          <a:xfrm>
            <a:off x="4645152" y="4069080"/>
            <a:ext cx="3008376" cy="274320"/>
          </a:xfrm>
          <a:prstGeom prst="rect">
            <a:avLst/>
          </a:prstGeom>
          <a:noFill/>
          <a:ln/>
        </p:spPr>
        <p:txBody>
          <a:bodyPr wrap="square" rtlCol="0" anchor="ctr"/>
          <a:lstStyle/>
          <a:p>
            <a:pPr marL="0" indent="0">
              <a:buNone/>
            </a:pPr>
            <a:r>
              <a:rPr lang="en-US" sz="1000" b="1" kern="0" spc="140" dirty="0">
                <a:solidFill>
                  <a:srgbClr val="C9A227"/>
                </a:solidFill>
                <a:latin typeface="Liberation Sans" pitchFamily="34" charset="0"/>
                <a:ea typeface="Liberation Sans" pitchFamily="34" charset="-122"/>
                <a:cs typeface="Liberation Sans" pitchFamily="34" charset="-120"/>
              </a:rPr>
              <a:t>WHERE WE ARE TODAY</a:t>
            </a:r>
            <a:endParaRPr lang="en-US" sz="1000" dirty="0"/>
          </a:p>
        </p:txBody>
      </p:sp>
      <p:sp>
        <p:nvSpPr>
          <p:cNvPr id="12" name="Text 8"/>
          <p:cNvSpPr/>
          <p:nvPr/>
        </p:nvSpPr>
        <p:spPr>
          <a:xfrm>
            <a:off x="4645152" y="4361688"/>
            <a:ext cx="3008376" cy="365760"/>
          </a:xfrm>
          <a:prstGeom prst="rect">
            <a:avLst/>
          </a:prstGeom>
          <a:noFill/>
          <a:ln/>
        </p:spPr>
        <p:txBody>
          <a:bodyPr wrap="square" rtlCol="0" anchor="ctr"/>
          <a:lstStyle/>
          <a:p>
            <a:pPr marL="0" indent="0">
              <a:buNone/>
            </a:pPr>
            <a:r>
              <a:rPr lang="en-US" sz="1800" b="1" dirty="0">
                <a:solidFill>
                  <a:srgbClr val="13233D"/>
                </a:solidFill>
                <a:latin typeface="Liberation Serif" pitchFamily="34" charset="0"/>
                <a:ea typeface="Liberation Serif" pitchFamily="34" charset="-122"/>
                <a:cs typeface="Liberation Serif" pitchFamily="34" charset="-120"/>
              </a:rPr>
              <a:t>King Air 100</a:t>
            </a:r>
            <a:endParaRPr lang="en-US" sz="1800" dirty="0"/>
          </a:p>
        </p:txBody>
      </p:sp>
      <p:sp>
        <p:nvSpPr>
          <p:cNvPr id="13" name="Text 9"/>
          <p:cNvSpPr/>
          <p:nvPr/>
        </p:nvSpPr>
        <p:spPr>
          <a:xfrm>
            <a:off x="4645152" y="4782312"/>
            <a:ext cx="3008376" cy="685800"/>
          </a:xfrm>
          <a:prstGeom prst="rect">
            <a:avLst/>
          </a:prstGeom>
          <a:noFill/>
          <a:ln/>
        </p:spPr>
        <p:txBody>
          <a:bodyPr wrap="square" rtlCol="0" anchor="ctr"/>
          <a:lstStyle/>
          <a:p>
            <a:pPr marL="0" indent="0">
              <a:lnSpc>
                <a:spcPct val="125000"/>
              </a:lnSpc>
              <a:buNone/>
            </a:pPr>
            <a:r>
              <a:rPr lang="en-US" sz="1050" dirty="0">
                <a:solidFill>
                  <a:srgbClr val="62708A"/>
                </a:solidFill>
                <a:latin typeface="Liberation Sans" pitchFamily="34" charset="0"/>
                <a:ea typeface="Liberation Sans" pitchFamily="34" charset="-122"/>
                <a:cs typeface="Liberation Sans" pitchFamily="34" charset="-120"/>
              </a:rPr>
              <a:t>Expanded capability. Greater range. Greater comfort. Greater flexibility.</a:t>
            </a:r>
            <a:endParaRPr lang="en-US" sz="1050" dirty="0"/>
          </a:p>
        </p:txBody>
      </p:sp>
      <p:pic>
        <p:nvPicPr>
          <p:cNvPr id="14" name="Image 2" descr="assets/crop_fleet_new.jpg"/>
          <p:cNvPicPr>
            <a:picLocks noChangeAspect="1"/>
          </p:cNvPicPr>
          <p:nvPr/>
        </p:nvPicPr>
        <p:blipFill>
          <a:blip r:embed="rId5"/>
          <a:stretch>
            <a:fillRect/>
          </a:stretch>
        </p:blipFill>
        <p:spPr>
          <a:xfrm>
            <a:off x="8138160" y="1828800"/>
            <a:ext cx="3520440" cy="2057400"/>
          </a:xfrm>
          <a:prstGeom prst="rect">
            <a:avLst/>
          </a:prstGeom>
        </p:spPr>
      </p:pic>
      <p:sp>
        <p:nvSpPr>
          <p:cNvPr id="15" name="Shape 10"/>
          <p:cNvSpPr/>
          <p:nvPr/>
        </p:nvSpPr>
        <p:spPr>
          <a:xfrm>
            <a:off x="8138160" y="3886200"/>
            <a:ext cx="3520440" cy="548640"/>
          </a:xfrm>
          <a:prstGeom prst="rect">
            <a:avLst/>
          </a:prstGeom>
          <a:solidFill>
            <a:srgbClr val="F6F7F9"/>
          </a:solidFill>
          <a:ln/>
        </p:spPr>
        <p:txBody>
          <a:bodyPr/>
          <a:lstStyle/>
          <a:p>
            <a:endParaRPr lang="en-US"/>
          </a:p>
        </p:txBody>
      </p:sp>
      <p:sp>
        <p:nvSpPr>
          <p:cNvPr id="16" name="Text 11"/>
          <p:cNvSpPr/>
          <p:nvPr/>
        </p:nvSpPr>
        <p:spPr>
          <a:xfrm>
            <a:off x="8394192" y="4069080"/>
            <a:ext cx="3008376" cy="274320"/>
          </a:xfrm>
          <a:prstGeom prst="rect">
            <a:avLst/>
          </a:prstGeom>
          <a:noFill/>
          <a:ln/>
        </p:spPr>
        <p:txBody>
          <a:bodyPr wrap="square" rtlCol="0" anchor="ctr"/>
          <a:lstStyle/>
          <a:p>
            <a:pPr marL="0" indent="0">
              <a:buNone/>
            </a:pPr>
            <a:r>
              <a:rPr lang="en-US" sz="1000" b="1" kern="0" spc="140" dirty="0">
                <a:solidFill>
                  <a:srgbClr val="C9A227"/>
                </a:solidFill>
                <a:latin typeface="Liberation Sans" pitchFamily="34" charset="0"/>
                <a:ea typeface="Liberation Sans" pitchFamily="34" charset="-122"/>
                <a:cs typeface="Liberation Sans" pitchFamily="34" charset="-120"/>
              </a:rPr>
              <a:t>WHERE WE'RE GOING</a:t>
            </a:r>
            <a:endParaRPr lang="en-US" sz="1000" dirty="0"/>
          </a:p>
        </p:txBody>
      </p:sp>
      <p:sp>
        <p:nvSpPr>
          <p:cNvPr id="17" name="Text 12"/>
          <p:cNvSpPr/>
          <p:nvPr/>
        </p:nvSpPr>
        <p:spPr>
          <a:xfrm>
            <a:off x="8394192" y="4361688"/>
            <a:ext cx="3008376" cy="365760"/>
          </a:xfrm>
          <a:prstGeom prst="rect">
            <a:avLst/>
          </a:prstGeom>
          <a:noFill/>
          <a:ln/>
        </p:spPr>
        <p:txBody>
          <a:bodyPr wrap="square" rtlCol="0" anchor="ctr"/>
          <a:lstStyle/>
          <a:p>
            <a:pPr marL="0" indent="0">
              <a:buNone/>
            </a:pPr>
            <a:r>
              <a:rPr lang="en-US" sz="1800" b="1" dirty="0">
                <a:solidFill>
                  <a:srgbClr val="13233D"/>
                </a:solidFill>
                <a:latin typeface="Liberation Serif" pitchFamily="34" charset="0"/>
                <a:ea typeface="Liberation Serif" pitchFamily="34" charset="-122"/>
                <a:cs typeface="Liberation Serif" pitchFamily="34" charset="-120"/>
              </a:rPr>
              <a:t>Next-Generation Fleet</a:t>
            </a:r>
            <a:endParaRPr lang="en-US" sz="1800" dirty="0"/>
          </a:p>
        </p:txBody>
      </p:sp>
      <p:sp>
        <p:nvSpPr>
          <p:cNvPr id="18" name="Text 13"/>
          <p:cNvSpPr/>
          <p:nvPr/>
        </p:nvSpPr>
        <p:spPr>
          <a:xfrm>
            <a:off x="8394192" y="4782312"/>
            <a:ext cx="3008376" cy="685800"/>
          </a:xfrm>
          <a:prstGeom prst="rect">
            <a:avLst/>
          </a:prstGeom>
          <a:noFill/>
          <a:ln/>
        </p:spPr>
        <p:txBody>
          <a:bodyPr wrap="square" rtlCol="0" anchor="ctr"/>
          <a:lstStyle/>
          <a:p>
            <a:pPr marL="0" indent="0">
              <a:lnSpc>
                <a:spcPct val="125000"/>
              </a:lnSpc>
              <a:buNone/>
            </a:pPr>
            <a:r>
              <a:rPr lang="en-US" sz="1050" dirty="0">
                <a:solidFill>
                  <a:srgbClr val="62708A"/>
                </a:solidFill>
                <a:latin typeface="Liberation Sans" pitchFamily="34" charset="0"/>
                <a:ea typeface="Liberation Sans" pitchFamily="34" charset="-122"/>
                <a:cs typeface="Liberation Sans" pitchFamily="34" charset="-120"/>
              </a:rPr>
              <a:t>Evaluating the Twin Otter, Cessna Caravan, Pilatus PC-12 and Kodiak to power scheduled regional service.</a:t>
            </a:r>
            <a:endParaRPr lang="en-US" sz="1050" dirty="0"/>
          </a:p>
        </p:txBody>
      </p:sp>
      <p:sp>
        <p:nvSpPr>
          <p:cNvPr id="19" name="Text 14"/>
          <p:cNvSpPr/>
          <p:nvPr/>
        </p:nvSpPr>
        <p:spPr>
          <a:xfrm>
            <a:off x="548640" y="6455664"/>
            <a:ext cx="6400800" cy="274320"/>
          </a:xfrm>
          <a:prstGeom prst="rect">
            <a:avLst/>
          </a:prstGeom>
          <a:noFill/>
          <a:ln/>
        </p:spPr>
        <p:txBody>
          <a:bodyPr wrap="square" rtlCol="0" anchor="ctr"/>
          <a:lstStyle/>
          <a:p>
            <a:pPr marL="0" indent="0" algn="l">
              <a:buNone/>
            </a:pPr>
            <a:r>
              <a:rPr lang="en-US" sz="800" kern="0" spc="100" dirty="0">
                <a:solidFill>
                  <a:srgbClr val="9AA3B5"/>
                </a:solidFill>
                <a:latin typeface="Liberation Sans" pitchFamily="34" charset="0"/>
                <a:ea typeface="Liberation Sans" pitchFamily="34" charset="-122"/>
                <a:cs typeface="Liberation Sans" pitchFamily="34" charset="-120"/>
              </a:rPr>
              <a:t>ZIPLINE EXPRESS  ·  CONFIDENTIAL  ·  08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626"/>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rtlCol="0" anchor="ctr"/>
          <a:lstStyle/>
          <a:p>
            <a:pPr marL="0" indent="0" algn="l">
              <a:buNone/>
            </a:pPr>
            <a:r>
              <a:rPr lang="en-US" sz="1250" b="1" kern="0" spc="240" dirty="0">
                <a:solidFill>
                  <a:srgbClr val="C9A227"/>
                </a:solidFill>
                <a:latin typeface="Liberation Sans" pitchFamily="34" charset="0"/>
                <a:ea typeface="Liberation Sans" pitchFamily="34" charset="-122"/>
                <a:cs typeface="Liberation Sans" pitchFamily="34" charset="-120"/>
              </a:rPr>
              <a:t>AIRCRAFT FINANCING</a:t>
            </a:r>
            <a:endParaRPr lang="en-US" sz="1250" dirty="0"/>
          </a:p>
        </p:txBody>
      </p:sp>
      <p:sp>
        <p:nvSpPr>
          <p:cNvPr id="3" name="Text 1"/>
          <p:cNvSpPr/>
          <p:nvPr/>
        </p:nvSpPr>
        <p:spPr>
          <a:xfrm>
            <a:off x="640080" y="868680"/>
            <a:ext cx="10515600" cy="640080"/>
          </a:xfrm>
          <a:prstGeom prst="rect">
            <a:avLst/>
          </a:prstGeom>
          <a:noFill/>
          <a:ln/>
        </p:spPr>
        <p:txBody>
          <a:bodyPr wrap="square" rtlCol="0" anchor="ctr"/>
          <a:lstStyle/>
          <a:p>
            <a:pPr marL="0" indent="0">
              <a:buNone/>
            </a:pPr>
            <a:r>
              <a:rPr lang="en-US" sz="2700" dirty="0">
                <a:solidFill>
                  <a:srgbClr val="FFFFFF"/>
                </a:solidFill>
                <a:latin typeface="Liberation Serif" pitchFamily="34" charset="0"/>
                <a:ea typeface="Liberation Serif" pitchFamily="34" charset="-122"/>
                <a:cs typeface="Liberation Serif" pitchFamily="34" charset="-120"/>
              </a:rPr>
              <a:t>Seeking Leasing &amp; Financing Partners</a:t>
            </a:r>
            <a:endParaRPr lang="en-US" sz="2700" dirty="0"/>
          </a:p>
        </p:txBody>
      </p:sp>
      <p:sp>
        <p:nvSpPr>
          <p:cNvPr id="4" name="Text 2"/>
          <p:cNvSpPr/>
          <p:nvPr/>
        </p:nvSpPr>
        <p:spPr>
          <a:xfrm>
            <a:off x="640080" y="1572768"/>
            <a:ext cx="10698480" cy="594360"/>
          </a:xfrm>
          <a:prstGeom prst="rect">
            <a:avLst/>
          </a:prstGeom>
          <a:noFill/>
          <a:ln/>
        </p:spPr>
        <p:txBody>
          <a:bodyPr wrap="square" rtlCol="0" anchor="ctr"/>
          <a:lstStyle/>
          <a:p>
            <a:pPr marL="0" indent="0">
              <a:lnSpc>
                <a:spcPct val="130000"/>
              </a:lnSpc>
              <a:buNone/>
            </a:pPr>
            <a:r>
              <a:rPr lang="en-US" sz="1250" i="1" dirty="0">
                <a:solidFill>
                  <a:srgbClr val="CBD3E1"/>
                </a:solidFill>
                <a:latin typeface="Liberation Sans" pitchFamily="34" charset="0"/>
                <a:ea typeface="Liberation Sans" pitchFamily="34" charset="-122"/>
                <a:cs typeface="Liberation Sans" pitchFamily="34" charset="-120"/>
              </a:rPr>
              <a:t>Zipline Express is inviting proposals from aircraft leasing and financing companies to support the acquisition of new aircraft for scheduled regional service.</a:t>
            </a:r>
            <a:endParaRPr lang="en-US" sz="1250" dirty="0"/>
          </a:p>
        </p:txBody>
      </p:sp>
      <p:sp>
        <p:nvSpPr>
          <p:cNvPr id="5" name="Text 3"/>
          <p:cNvSpPr/>
          <p:nvPr/>
        </p:nvSpPr>
        <p:spPr>
          <a:xfrm>
            <a:off x="640080" y="2194560"/>
            <a:ext cx="10908792" cy="256032"/>
          </a:xfrm>
          <a:prstGeom prst="rect">
            <a:avLst/>
          </a:prstGeom>
          <a:noFill/>
          <a:ln/>
        </p:spPr>
        <p:txBody>
          <a:bodyPr wrap="square" rtlCol="0" anchor="ctr"/>
          <a:lstStyle/>
          <a:p>
            <a:pPr marL="0" indent="0">
              <a:buNone/>
            </a:pPr>
            <a:r>
              <a:rPr lang="en-US" sz="1050" b="1" kern="0" spc="140" dirty="0">
                <a:solidFill>
                  <a:srgbClr val="C9A227"/>
                </a:solidFill>
                <a:latin typeface="Liberation Sans" pitchFamily="34" charset="0"/>
                <a:ea typeface="Liberation Sans" pitchFamily="34" charset="-122"/>
                <a:cs typeface="Liberation Sans" pitchFamily="34" charset="-120"/>
              </a:rPr>
              <a:t>AIRCRAFT UNDER CONSIDERATION</a:t>
            </a:r>
            <a:endParaRPr lang="en-US" sz="1050" dirty="0"/>
          </a:p>
        </p:txBody>
      </p:sp>
      <p:sp>
        <p:nvSpPr>
          <p:cNvPr id="6" name="Shape 4"/>
          <p:cNvSpPr/>
          <p:nvPr/>
        </p:nvSpPr>
        <p:spPr>
          <a:xfrm>
            <a:off x="640080" y="2487168"/>
            <a:ext cx="2590038" cy="1280160"/>
          </a:xfrm>
          <a:prstGeom prst="rect">
            <a:avLst/>
          </a:prstGeom>
          <a:solidFill>
            <a:srgbClr val="1E3355"/>
          </a:solidFill>
          <a:ln/>
        </p:spPr>
        <p:txBody>
          <a:bodyPr/>
          <a:lstStyle/>
          <a:p>
            <a:endParaRPr lang="en-US"/>
          </a:p>
        </p:txBody>
      </p:sp>
      <p:sp>
        <p:nvSpPr>
          <p:cNvPr id="7" name="Shape 5"/>
          <p:cNvSpPr/>
          <p:nvPr/>
        </p:nvSpPr>
        <p:spPr>
          <a:xfrm>
            <a:off x="640080" y="2487168"/>
            <a:ext cx="2590038" cy="45720"/>
          </a:xfrm>
          <a:prstGeom prst="rect">
            <a:avLst/>
          </a:prstGeom>
          <a:solidFill>
            <a:srgbClr val="C9A227"/>
          </a:solidFill>
          <a:ln/>
        </p:spPr>
        <p:txBody>
          <a:bodyPr/>
          <a:lstStyle/>
          <a:p>
            <a:endParaRPr lang="en-US"/>
          </a:p>
        </p:txBody>
      </p:sp>
      <p:sp>
        <p:nvSpPr>
          <p:cNvPr id="8" name="Text 6"/>
          <p:cNvSpPr/>
          <p:nvPr/>
        </p:nvSpPr>
        <p:spPr>
          <a:xfrm>
            <a:off x="804672" y="2706624"/>
            <a:ext cx="2260854" cy="457200"/>
          </a:xfrm>
          <a:prstGeom prst="rect">
            <a:avLst/>
          </a:prstGeom>
          <a:noFill/>
          <a:ln/>
        </p:spPr>
        <p:txBody>
          <a:bodyPr wrap="square" rtlCol="0" anchor="ctr"/>
          <a:lstStyle/>
          <a:p>
            <a:pPr marL="0" indent="0">
              <a:lnSpc>
                <a:spcPct val="105000"/>
              </a:lnSpc>
              <a:buNone/>
            </a:pPr>
            <a:r>
              <a:rPr lang="en-US" sz="1550" b="1" dirty="0">
                <a:solidFill>
                  <a:srgbClr val="FFFFFF"/>
                </a:solidFill>
                <a:latin typeface="Liberation Serif" pitchFamily="34" charset="0"/>
                <a:ea typeface="Liberation Serif" pitchFamily="34" charset="-122"/>
                <a:cs typeface="Liberation Serif" pitchFamily="34" charset="-120"/>
              </a:rPr>
              <a:t>Twin Otter</a:t>
            </a:r>
            <a:endParaRPr lang="en-US" sz="1550" dirty="0"/>
          </a:p>
        </p:txBody>
      </p:sp>
      <p:sp>
        <p:nvSpPr>
          <p:cNvPr id="9" name="Text 7"/>
          <p:cNvSpPr/>
          <p:nvPr/>
        </p:nvSpPr>
        <p:spPr>
          <a:xfrm>
            <a:off x="804672" y="3236976"/>
            <a:ext cx="2260854" cy="320040"/>
          </a:xfrm>
          <a:prstGeom prst="rect">
            <a:avLst/>
          </a:prstGeom>
          <a:noFill/>
          <a:ln/>
        </p:spPr>
        <p:txBody>
          <a:bodyPr wrap="square" rtlCol="0" anchor="ctr"/>
          <a:lstStyle/>
          <a:p>
            <a:pPr marL="0" indent="0">
              <a:buNone/>
            </a:pPr>
            <a:r>
              <a:rPr lang="en-US" sz="1100" dirty="0">
                <a:solidFill>
                  <a:srgbClr val="E8CD73"/>
                </a:solidFill>
                <a:latin typeface="Liberation Sans" pitchFamily="34" charset="0"/>
                <a:ea typeface="Liberation Sans" pitchFamily="34" charset="-122"/>
                <a:cs typeface="Liberation Sans" pitchFamily="34" charset="-120"/>
              </a:rPr>
              <a:t>19 Seats</a:t>
            </a:r>
            <a:endParaRPr lang="en-US" sz="1100" dirty="0"/>
          </a:p>
        </p:txBody>
      </p:sp>
      <p:sp>
        <p:nvSpPr>
          <p:cNvPr id="10" name="Shape 8"/>
          <p:cNvSpPr/>
          <p:nvPr/>
        </p:nvSpPr>
        <p:spPr>
          <a:xfrm>
            <a:off x="3412998" y="2487168"/>
            <a:ext cx="2590038" cy="1280160"/>
          </a:xfrm>
          <a:prstGeom prst="rect">
            <a:avLst/>
          </a:prstGeom>
          <a:solidFill>
            <a:srgbClr val="1E3355"/>
          </a:solidFill>
          <a:ln/>
        </p:spPr>
        <p:txBody>
          <a:bodyPr/>
          <a:lstStyle/>
          <a:p>
            <a:endParaRPr lang="en-US"/>
          </a:p>
        </p:txBody>
      </p:sp>
      <p:sp>
        <p:nvSpPr>
          <p:cNvPr id="11" name="Shape 9"/>
          <p:cNvSpPr/>
          <p:nvPr/>
        </p:nvSpPr>
        <p:spPr>
          <a:xfrm>
            <a:off x="3412998" y="2487168"/>
            <a:ext cx="2590038" cy="45720"/>
          </a:xfrm>
          <a:prstGeom prst="rect">
            <a:avLst/>
          </a:prstGeom>
          <a:solidFill>
            <a:srgbClr val="C9A227"/>
          </a:solidFill>
          <a:ln/>
        </p:spPr>
        <p:txBody>
          <a:bodyPr/>
          <a:lstStyle/>
          <a:p>
            <a:endParaRPr lang="en-US"/>
          </a:p>
        </p:txBody>
      </p:sp>
      <p:sp>
        <p:nvSpPr>
          <p:cNvPr id="12" name="Text 10"/>
          <p:cNvSpPr/>
          <p:nvPr/>
        </p:nvSpPr>
        <p:spPr>
          <a:xfrm>
            <a:off x="3577590" y="2706624"/>
            <a:ext cx="2260854" cy="457200"/>
          </a:xfrm>
          <a:prstGeom prst="rect">
            <a:avLst/>
          </a:prstGeom>
          <a:noFill/>
          <a:ln/>
        </p:spPr>
        <p:txBody>
          <a:bodyPr wrap="square" rtlCol="0" anchor="ctr"/>
          <a:lstStyle/>
          <a:p>
            <a:pPr marL="0" indent="0">
              <a:lnSpc>
                <a:spcPct val="105000"/>
              </a:lnSpc>
              <a:buNone/>
            </a:pPr>
            <a:r>
              <a:rPr lang="en-US" sz="1550" b="1" dirty="0">
                <a:solidFill>
                  <a:srgbClr val="FFFFFF"/>
                </a:solidFill>
                <a:latin typeface="Liberation Serif" pitchFamily="34" charset="0"/>
                <a:ea typeface="Liberation Serif" pitchFamily="34" charset="-122"/>
                <a:cs typeface="Liberation Serif" pitchFamily="34" charset="-120"/>
              </a:rPr>
              <a:t>Cessna Caravan</a:t>
            </a:r>
            <a:endParaRPr lang="en-US" sz="1550" dirty="0"/>
          </a:p>
        </p:txBody>
      </p:sp>
      <p:sp>
        <p:nvSpPr>
          <p:cNvPr id="13" name="Text 11"/>
          <p:cNvSpPr/>
          <p:nvPr/>
        </p:nvSpPr>
        <p:spPr>
          <a:xfrm>
            <a:off x="3577590" y="3236976"/>
            <a:ext cx="2260854" cy="320040"/>
          </a:xfrm>
          <a:prstGeom prst="rect">
            <a:avLst/>
          </a:prstGeom>
          <a:noFill/>
          <a:ln/>
        </p:spPr>
        <p:txBody>
          <a:bodyPr wrap="square" rtlCol="0" anchor="ctr"/>
          <a:lstStyle/>
          <a:p>
            <a:pPr marL="0" indent="0">
              <a:buNone/>
            </a:pPr>
            <a:r>
              <a:rPr lang="en-US" sz="1100" dirty="0">
                <a:solidFill>
                  <a:srgbClr val="E8CD73"/>
                </a:solidFill>
                <a:latin typeface="Liberation Sans" pitchFamily="34" charset="0"/>
                <a:ea typeface="Liberation Sans" pitchFamily="34" charset="-122"/>
                <a:cs typeface="Liberation Sans" pitchFamily="34" charset="-120"/>
              </a:rPr>
              <a:t>9 Seats</a:t>
            </a:r>
            <a:endParaRPr lang="en-US" sz="1100" dirty="0"/>
          </a:p>
        </p:txBody>
      </p:sp>
      <p:sp>
        <p:nvSpPr>
          <p:cNvPr id="14" name="Shape 12"/>
          <p:cNvSpPr/>
          <p:nvPr/>
        </p:nvSpPr>
        <p:spPr>
          <a:xfrm>
            <a:off x="6185916" y="2487168"/>
            <a:ext cx="2590038" cy="1280160"/>
          </a:xfrm>
          <a:prstGeom prst="rect">
            <a:avLst/>
          </a:prstGeom>
          <a:solidFill>
            <a:srgbClr val="1E3355"/>
          </a:solidFill>
          <a:ln/>
        </p:spPr>
        <p:txBody>
          <a:bodyPr/>
          <a:lstStyle/>
          <a:p>
            <a:endParaRPr lang="en-US"/>
          </a:p>
        </p:txBody>
      </p:sp>
      <p:sp>
        <p:nvSpPr>
          <p:cNvPr id="15" name="Shape 13"/>
          <p:cNvSpPr/>
          <p:nvPr/>
        </p:nvSpPr>
        <p:spPr>
          <a:xfrm>
            <a:off x="6185916" y="2487168"/>
            <a:ext cx="2590038" cy="45720"/>
          </a:xfrm>
          <a:prstGeom prst="rect">
            <a:avLst/>
          </a:prstGeom>
          <a:solidFill>
            <a:srgbClr val="C9A227"/>
          </a:solidFill>
          <a:ln/>
        </p:spPr>
        <p:txBody>
          <a:bodyPr/>
          <a:lstStyle/>
          <a:p>
            <a:endParaRPr lang="en-US"/>
          </a:p>
        </p:txBody>
      </p:sp>
      <p:sp>
        <p:nvSpPr>
          <p:cNvPr id="16" name="Text 14"/>
          <p:cNvSpPr/>
          <p:nvPr/>
        </p:nvSpPr>
        <p:spPr>
          <a:xfrm>
            <a:off x="6350508" y="2706624"/>
            <a:ext cx="2260854" cy="457200"/>
          </a:xfrm>
          <a:prstGeom prst="rect">
            <a:avLst/>
          </a:prstGeom>
          <a:noFill/>
          <a:ln/>
        </p:spPr>
        <p:txBody>
          <a:bodyPr wrap="square" rtlCol="0" anchor="ctr"/>
          <a:lstStyle/>
          <a:p>
            <a:pPr marL="0" indent="0">
              <a:lnSpc>
                <a:spcPct val="105000"/>
              </a:lnSpc>
              <a:buNone/>
            </a:pPr>
            <a:r>
              <a:rPr lang="en-US" sz="1550" b="1" dirty="0">
                <a:solidFill>
                  <a:srgbClr val="FFFFFF"/>
                </a:solidFill>
                <a:latin typeface="Liberation Serif" pitchFamily="34" charset="0"/>
                <a:ea typeface="Liberation Serif" pitchFamily="34" charset="-122"/>
                <a:cs typeface="Liberation Serif" pitchFamily="34" charset="-120"/>
              </a:rPr>
              <a:t>Pilatus PC-12</a:t>
            </a:r>
            <a:endParaRPr lang="en-US" sz="1550" dirty="0"/>
          </a:p>
        </p:txBody>
      </p:sp>
      <p:sp>
        <p:nvSpPr>
          <p:cNvPr id="17" name="Text 15"/>
          <p:cNvSpPr/>
          <p:nvPr/>
        </p:nvSpPr>
        <p:spPr>
          <a:xfrm>
            <a:off x="6350508" y="3236976"/>
            <a:ext cx="2260854" cy="320040"/>
          </a:xfrm>
          <a:prstGeom prst="rect">
            <a:avLst/>
          </a:prstGeom>
          <a:noFill/>
          <a:ln/>
        </p:spPr>
        <p:txBody>
          <a:bodyPr wrap="square" rtlCol="0" anchor="ctr"/>
          <a:lstStyle/>
          <a:p>
            <a:pPr marL="0" indent="0">
              <a:buNone/>
            </a:pPr>
            <a:r>
              <a:rPr lang="en-US" sz="1100" dirty="0">
                <a:solidFill>
                  <a:srgbClr val="E8CD73"/>
                </a:solidFill>
                <a:latin typeface="Liberation Sans" pitchFamily="34" charset="0"/>
                <a:ea typeface="Liberation Sans" pitchFamily="34" charset="-122"/>
                <a:cs typeface="Liberation Sans" pitchFamily="34" charset="-120"/>
              </a:rPr>
              <a:t>9 Seats</a:t>
            </a:r>
            <a:endParaRPr lang="en-US" sz="1100" dirty="0"/>
          </a:p>
        </p:txBody>
      </p:sp>
      <p:sp>
        <p:nvSpPr>
          <p:cNvPr id="18" name="Shape 16"/>
          <p:cNvSpPr/>
          <p:nvPr/>
        </p:nvSpPr>
        <p:spPr>
          <a:xfrm>
            <a:off x="8958834" y="2487168"/>
            <a:ext cx="2590038" cy="1280160"/>
          </a:xfrm>
          <a:prstGeom prst="rect">
            <a:avLst/>
          </a:prstGeom>
          <a:solidFill>
            <a:srgbClr val="1E3355"/>
          </a:solidFill>
          <a:ln/>
        </p:spPr>
        <p:txBody>
          <a:bodyPr/>
          <a:lstStyle/>
          <a:p>
            <a:endParaRPr lang="en-US"/>
          </a:p>
        </p:txBody>
      </p:sp>
      <p:sp>
        <p:nvSpPr>
          <p:cNvPr id="19" name="Shape 17"/>
          <p:cNvSpPr/>
          <p:nvPr/>
        </p:nvSpPr>
        <p:spPr>
          <a:xfrm>
            <a:off x="8958834" y="2487168"/>
            <a:ext cx="2590038" cy="45720"/>
          </a:xfrm>
          <a:prstGeom prst="rect">
            <a:avLst/>
          </a:prstGeom>
          <a:solidFill>
            <a:srgbClr val="C9A227"/>
          </a:solidFill>
          <a:ln/>
        </p:spPr>
        <p:txBody>
          <a:bodyPr/>
          <a:lstStyle/>
          <a:p>
            <a:endParaRPr lang="en-US"/>
          </a:p>
        </p:txBody>
      </p:sp>
      <p:sp>
        <p:nvSpPr>
          <p:cNvPr id="20" name="Text 18"/>
          <p:cNvSpPr/>
          <p:nvPr/>
        </p:nvSpPr>
        <p:spPr>
          <a:xfrm>
            <a:off x="9123426" y="2706624"/>
            <a:ext cx="2260854" cy="457200"/>
          </a:xfrm>
          <a:prstGeom prst="rect">
            <a:avLst/>
          </a:prstGeom>
          <a:noFill/>
          <a:ln/>
        </p:spPr>
        <p:txBody>
          <a:bodyPr wrap="square" rtlCol="0" anchor="ctr"/>
          <a:lstStyle/>
          <a:p>
            <a:pPr marL="0" indent="0">
              <a:lnSpc>
                <a:spcPct val="105000"/>
              </a:lnSpc>
              <a:buNone/>
            </a:pPr>
            <a:r>
              <a:rPr lang="en-US" sz="1550" b="1" dirty="0">
                <a:solidFill>
                  <a:srgbClr val="FFFFFF"/>
                </a:solidFill>
                <a:latin typeface="Liberation Serif" pitchFamily="34" charset="0"/>
                <a:ea typeface="Liberation Serif" pitchFamily="34" charset="-122"/>
                <a:cs typeface="Liberation Serif" pitchFamily="34" charset="-120"/>
              </a:rPr>
              <a:t>Kodiak 100</a:t>
            </a:r>
            <a:endParaRPr lang="en-US" sz="1550" dirty="0"/>
          </a:p>
        </p:txBody>
      </p:sp>
      <p:sp>
        <p:nvSpPr>
          <p:cNvPr id="21" name="Text 19"/>
          <p:cNvSpPr/>
          <p:nvPr/>
        </p:nvSpPr>
        <p:spPr>
          <a:xfrm>
            <a:off x="9123426" y="3236976"/>
            <a:ext cx="2260854" cy="320040"/>
          </a:xfrm>
          <a:prstGeom prst="rect">
            <a:avLst/>
          </a:prstGeom>
          <a:noFill/>
          <a:ln/>
        </p:spPr>
        <p:txBody>
          <a:bodyPr wrap="square" rtlCol="0" anchor="ctr"/>
          <a:lstStyle/>
          <a:p>
            <a:pPr marL="0" indent="0">
              <a:buNone/>
            </a:pPr>
            <a:r>
              <a:rPr lang="en-US" sz="1100" dirty="0">
                <a:solidFill>
                  <a:srgbClr val="E8CD73"/>
                </a:solidFill>
                <a:latin typeface="Liberation Sans" pitchFamily="34" charset="0"/>
                <a:ea typeface="Liberation Sans" pitchFamily="34" charset="-122"/>
                <a:cs typeface="Liberation Sans" pitchFamily="34" charset="-120"/>
              </a:rPr>
              <a:t>9 Seats</a:t>
            </a:r>
            <a:endParaRPr lang="en-US" sz="1100" dirty="0"/>
          </a:p>
        </p:txBody>
      </p:sp>
      <p:sp>
        <p:nvSpPr>
          <p:cNvPr id="22" name="Text 20"/>
          <p:cNvSpPr/>
          <p:nvPr/>
        </p:nvSpPr>
        <p:spPr>
          <a:xfrm>
            <a:off x="640080" y="4069080"/>
            <a:ext cx="5486400" cy="274320"/>
          </a:xfrm>
          <a:prstGeom prst="rect">
            <a:avLst/>
          </a:prstGeom>
          <a:noFill/>
          <a:ln/>
        </p:spPr>
        <p:txBody>
          <a:bodyPr wrap="square" rtlCol="0" anchor="ctr"/>
          <a:lstStyle/>
          <a:p>
            <a:pPr marL="0" indent="0">
              <a:buNone/>
            </a:pPr>
            <a:r>
              <a:rPr lang="en-US" sz="1050" b="1" kern="0" spc="140" dirty="0">
                <a:solidFill>
                  <a:srgbClr val="C9A227"/>
                </a:solidFill>
                <a:latin typeface="Liberation Sans" pitchFamily="34" charset="0"/>
                <a:ea typeface="Liberation Sans" pitchFamily="34" charset="-122"/>
                <a:cs typeface="Liberation Sans" pitchFamily="34" charset="-120"/>
              </a:rPr>
              <a:t>WHAT WE ARE SEEKING</a:t>
            </a:r>
            <a:endParaRPr lang="en-US" sz="1050" dirty="0"/>
          </a:p>
        </p:txBody>
      </p:sp>
      <p:sp>
        <p:nvSpPr>
          <p:cNvPr id="23" name="Shape 21"/>
          <p:cNvSpPr/>
          <p:nvPr/>
        </p:nvSpPr>
        <p:spPr>
          <a:xfrm>
            <a:off x="640080" y="4480560"/>
            <a:ext cx="128016" cy="128016"/>
          </a:xfrm>
          <a:prstGeom prst="rect">
            <a:avLst/>
          </a:prstGeom>
          <a:solidFill>
            <a:srgbClr val="C9A227"/>
          </a:solidFill>
          <a:ln/>
        </p:spPr>
        <p:txBody>
          <a:bodyPr/>
          <a:lstStyle/>
          <a:p>
            <a:endParaRPr lang="en-US"/>
          </a:p>
        </p:txBody>
      </p:sp>
      <p:sp>
        <p:nvSpPr>
          <p:cNvPr id="24" name="Text 22"/>
          <p:cNvSpPr/>
          <p:nvPr/>
        </p:nvSpPr>
        <p:spPr>
          <a:xfrm>
            <a:off x="914400" y="4416552"/>
            <a:ext cx="6126480" cy="502920"/>
          </a:xfrm>
          <a:prstGeom prst="rect">
            <a:avLst/>
          </a:prstGeom>
          <a:noFill/>
          <a:ln/>
        </p:spPr>
        <p:txBody>
          <a:bodyPr wrap="square" rtlCol="0" anchor="ctr"/>
          <a:lstStyle/>
          <a:p>
            <a:pPr marL="0" indent="0">
              <a:lnSpc>
                <a:spcPct val="125000"/>
              </a:lnSpc>
              <a:buNone/>
            </a:pPr>
            <a:r>
              <a:rPr lang="en-US" sz="1100" dirty="0">
                <a:solidFill>
                  <a:srgbClr val="FFFFFF"/>
                </a:solidFill>
                <a:latin typeface="Liberation Sans" pitchFamily="34" charset="0"/>
                <a:ea typeface="Liberation Sans" pitchFamily="34" charset="-122"/>
                <a:cs typeface="Liberation Sans" pitchFamily="34" charset="-120"/>
              </a:rPr>
              <a:t>Dry lease arrangements — aircraft only. Zipline supplies crew, maintenance and operating insurance under its own Bahamas Air Transport Licence.</a:t>
            </a:r>
            <a:endParaRPr lang="en-US" sz="1100" dirty="0"/>
          </a:p>
        </p:txBody>
      </p:sp>
      <p:sp>
        <p:nvSpPr>
          <p:cNvPr id="25" name="Shape 23"/>
          <p:cNvSpPr/>
          <p:nvPr/>
        </p:nvSpPr>
        <p:spPr>
          <a:xfrm>
            <a:off x="640080" y="5010912"/>
            <a:ext cx="128016" cy="128016"/>
          </a:xfrm>
          <a:prstGeom prst="rect">
            <a:avLst/>
          </a:prstGeom>
          <a:solidFill>
            <a:srgbClr val="C9A227"/>
          </a:solidFill>
          <a:ln/>
        </p:spPr>
        <p:txBody>
          <a:bodyPr/>
          <a:lstStyle/>
          <a:p>
            <a:endParaRPr lang="en-US"/>
          </a:p>
        </p:txBody>
      </p:sp>
      <p:sp>
        <p:nvSpPr>
          <p:cNvPr id="26" name="Text 24"/>
          <p:cNvSpPr/>
          <p:nvPr/>
        </p:nvSpPr>
        <p:spPr>
          <a:xfrm>
            <a:off x="914400" y="4946904"/>
            <a:ext cx="6126480" cy="502920"/>
          </a:xfrm>
          <a:prstGeom prst="rect">
            <a:avLst/>
          </a:prstGeom>
          <a:noFill/>
          <a:ln/>
        </p:spPr>
        <p:txBody>
          <a:bodyPr wrap="square" rtlCol="0" anchor="ctr"/>
          <a:lstStyle/>
          <a:p>
            <a:pPr marL="0" indent="0">
              <a:lnSpc>
                <a:spcPct val="125000"/>
              </a:lnSpc>
              <a:buNone/>
            </a:pPr>
            <a:r>
              <a:rPr lang="en-US" sz="1100" dirty="0">
                <a:solidFill>
                  <a:srgbClr val="FFFFFF"/>
                </a:solidFill>
                <a:latin typeface="Liberation Sans" pitchFamily="34" charset="0"/>
                <a:ea typeface="Liberation Sans" pitchFamily="34" charset="-122"/>
                <a:cs typeface="Liberation Sans" pitchFamily="34" charset="-120"/>
              </a:rPr>
              <a:t>Also open to aircraft financing or loan structures as an alternative to a dry lease.</a:t>
            </a:r>
            <a:endParaRPr lang="en-US" sz="1100" dirty="0"/>
          </a:p>
        </p:txBody>
      </p:sp>
      <p:sp>
        <p:nvSpPr>
          <p:cNvPr id="27" name="Shape 25"/>
          <p:cNvSpPr/>
          <p:nvPr/>
        </p:nvSpPr>
        <p:spPr>
          <a:xfrm>
            <a:off x="640080" y="5541264"/>
            <a:ext cx="128016" cy="128016"/>
          </a:xfrm>
          <a:prstGeom prst="rect">
            <a:avLst/>
          </a:prstGeom>
          <a:solidFill>
            <a:srgbClr val="C9A227"/>
          </a:solidFill>
          <a:ln/>
        </p:spPr>
        <p:txBody>
          <a:bodyPr/>
          <a:lstStyle/>
          <a:p>
            <a:endParaRPr lang="en-US"/>
          </a:p>
        </p:txBody>
      </p:sp>
      <p:sp>
        <p:nvSpPr>
          <p:cNvPr id="28" name="Text 26"/>
          <p:cNvSpPr/>
          <p:nvPr/>
        </p:nvSpPr>
        <p:spPr>
          <a:xfrm>
            <a:off x="914400" y="5477256"/>
            <a:ext cx="6126480" cy="502920"/>
          </a:xfrm>
          <a:prstGeom prst="rect">
            <a:avLst/>
          </a:prstGeom>
          <a:noFill/>
          <a:ln/>
        </p:spPr>
        <p:txBody>
          <a:bodyPr wrap="square" rtlCol="0" anchor="ctr"/>
          <a:lstStyle/>
          <a:p>
            <a:pPr marL="0" indent="0">
              <a:lnSpc>
                <a:spcPct val="125000"/>
              </a:lnSpc>
              <a:buNone/>
            </a:pPr>
            <a:r>
              <a:rPr lang="en-US" sz="1100" dirty="0">
                <a:solidFill>
                  <a:srgbClr val="FFFFFF"/>
                </a:solidFill>
                <a:latin typeface="Liberation Sans" pitchFamily="34" charset="0"/>
                <a:ea typeface="Liberation Sans" pitchFamily="34" charset="-122"/>
                <a:cs typeface="Liberation Sans" pitchFamily="34" charset="-120"/>
              </a:rPr>
              <a:t>One or more aircraft from the types above, with flexible short- or medium-term lease terms.</a:t>
            </a:r>
            <a:endParaRPr lang="en-US" sz="1100" dirty="0"/>
          </a:p>
        </p:txBody>
      </p:sp>
      <p:sp>
        <p:nvSpPr>
          <p:cNvPr id="29" name="Shape 27"/>
          <p:cNvSpPr/>
          <p:nvPr/>
        </p:nvSpPr>
        <p:spPr>
          <a:xfrm>
            <a:off x="640080" y="6071616"/>
            <a:ext cx="128016" cy="128016"/>
          </a:xfrm>
          <a:prstGeom prst="rect">
            <a:avLst/>
          </a:prstGeom>
          <a:solidFill>
            <a:srgbClr val="C9A227"/>
          </a:solidFill>
          <a:ln/>
        </p:spPr>
        <p:txBody>
          <a:bodyPr/>
          <a:lstStyle/>
          <a:p>
            <a:endParaRPr lang="en-US"/>
          </a:p>
        </p:txBody>
      </p:sp>
      <p:sp>
        <p:nvSpPr>
          <p:cNvPr id="30" name="Text 28"/>
          <p:cNvSpPr/>
          <p:nvPr/>
        </p:nvSpPr>
        <p:spPr>
          <a:xfrm>
            <a:off x="914400" y="6007608"/>
            <a:ext cx="6126480" cy="502920"/>
          </a:xfrm>
          <a:prstGeom prst="rect">
            <a:avLst/>
          </a:prstGeom>
          <a:noFill/>
          <a:ln/>
        </p:spPr>
        <p:txBody>
          <a:bodyPr wrap="square" rtlCol="0" anchor="ctr"/>
          <a:lstStyle/>
          <a:p>
            <a:pPr marL="0" indent="0">
              <a:lnSpc>
                <a:spcPct val="125000"/>
              </a:lnSpc>
              <a:buNone/>
            </a:pPr>
            <a:r>
              <a:rPr lang="en-US" sz="1100" dirty="0">
                <a:solidFill>
                  <a:srgbClr val="FFFFFF"/>
                </a:solidFill>
                <a:latin typeface="Liberation Sans" pitchFamily="34" charset="0"/>
                <a:ea typeface="Liberation Sans" pitchFamily="34" charset="-122"/>
                <a:cs typeface="Liberation Sans" pitchFamily="34" charset="-120"/>
              </a:rPr>
              <a:t>Option to extend, renew or purchase at the end of the initial term.</a:t>
            </a:r>
            <a:endParaRPr lang="en-US" sz="1100" dirty="0"/>
          </a:p>
        </p:txBody>
      </p:sp>
      <p:sp>
        <p:nvSpPr>
          <p:cNvPr id="31" name="Shape 29"/>
          <p:cNvSpPr/>
          <p:nvPr/>
        </p:nvSpPr>
        <p:spPr>
          <a:xfrm>
            <a:off x="7360920" y="4069080"/>
            <a:ext cx="4187952" cy="2377440"/>
          </a:xfrm>
          <a:prstGeom prst="rect">
            <a:avLst/>
          </a:prstGeom>
          <a:solidFill>
            <a:srgbClr val="1E3355"/>
          </a:solidFill>
          <a:ln/>
        </p:spPr>
        <p:txBody>
          <a:bodyPr/>
          <a:lstStyle/>
          <a:p>
            <a:endParaRPr lang="en-US"/>
          </a:p>
        </p:txBody>
      </p:sp>
      <p:sp>
        <p:nvSpPr>
          <p:cNvPr id="32" name="Text 30"/>
          <p:cNvSpPr/>
          <p:nvPr/>
        </p:nvSpPr>
        <p:spPr>
          <a:xfrm>
            <a:off x="7616952" y="4270248"/>
            <a:ext cx="3675888" cy="256032"/>
          </a:xfrm>
          <a:prstGeom prst="rect">
            <a:avLst/>
          </a:prstGeom>
          <a:noFill/>
          <a:ln/>
        </p:spPr>
        <p:txBody>
          <a:bodyPr wrap="square" rtlCol="0" anchor="ctr"/>
          <a:lstStyle/>
          <a:p>
            <a:pPr marL="0" indent="0">
              <a:buNone/>
            </a:pPr>
            <a:r>
              <a:rPr lang="en-US" sz="1000" b="1" kern="0" spc="130" dirty="0">
                <a:solidFill>
                  <a:srgbClr val="C9A227"/>
                </a:solidFill>
                <a:latin typeface="Liberation Sans" pitchFamily="34" charset="0"/>
                <a:ea typeface="Liberation Sans" pitchFamily="34" charset="-122"/>
                <a:cs typeface="Liberation Sans" pitchFamily="34" charset="-120"/>
              </a:rPr>
              <a:t>WHY ZIPLINE</a:t>
            </a:r>
            <a:endParaRPr lang="en-US" sz="1000" dirty="0"/>
          </a:p>
        </p:txBody>
      </p:sp>
      <p:sp>
        <p:nvSpPr>
          <p:cNvPr id="33" name="Shape 31"/>
          <p:cNvSpPr/>
          <p:nvPr/>
        </p:nvSpPr>
        <p:spPr>
          <a:xfrm>
            <a:off x="7616952" y="4672584"/>
            <a:ext cx="82296" cy="82296"/>
          </a:xfrm>
          <a:prstGeom prst="rect">
            <a:avLst/>
          </a:prstGeom>
          <a:solidFill>
            <a:srgbClr val="C9A227"/>
          </a:solidFill>
          <a:ln/>
        </p:spPr>
        <p:txBody>
          <a:bodyPr/>
          <a:lstStyle/>
          <a:p>
            <a:endParaRPr lang="en-US"/>
          </a:p>
        </p:txBody>
      </p:sp>
      <p:sp>
        <p:nvSpPr>
          <p:cNvPr id="34" name="Text 32"/>
          <p:cNvSpPr/>
          <p:nvPr/>
        </p:nvSpPr>
        <p:spPr>
          <a:xfrm>
            <a:off x="7799832" y="4617720"/>
            <a:ext cx="3493008" cy="457200"/>
          </a:xfrm>
          <a:prstGeom prst="rect">
            <a:avLst/>
          </a:prstGeom>
          <a:noFill/>
          <a:ln/>
        </p:spPr>
        <p:txBody>
          <a:bodyPr wrap="square" rtlCol="0" anchor="ctr"/>
          <a:lstStyle/>
          <a:p>
            <a:pPr marL="0" indent="0">
              <a:lnSpc>
                <a:spcPct val="122000"/>
              </a:lnSpc>
              <a:buNone/>
            </a:pPr>
            <a:r>
              <a:rPr lang="en-US" sz="950" dirty="0">
                <a:solidFill>
                  <a:srgbClr val="CBD3E1"/>
                </a:solidFill>
                <a:latin typeface="Liberation Sans" pitchFamily="34" charset="0"/>
                <a:ea typeface="Liberation Sans" pitchFamily="34" charset="-122"/>
                <a:cs typeface="Liberation Sans" pitchFamily="34" charset="-120"/>
              </a:rPr>
              <a:t>Established Bahamian operator since 2017, holding a current Air Transport Licence</a:t>
            </a:r>
            <a:endParaRPr lang="en-US" sz="950" dirty="0"/>
          </a:p>
        </p:txBody>
      </p:sp>
      <p:sp>
        <p:nvSpPr>
          <p:cNvPr id="35" name="Shape 33"/>
          <p:cNvSpPr/>
          <p:nvPr/>
        </p:nvSpPr>
        <p:spPr>
          <a:xfrm>
            <a:off x="7616952" y="5111496"/>
            <a:ext cx="82296" cy="82296"/>
          </a:xfrm>
          <a:prstGeom prst="rect">
            <a:avLst/>
          </a:prstGeom>
          <a:solidFill>
            <a:srgbClr val="C9A227"/>
          </a:solidFill>
          <a:ln/>
        </p:spPr>
        <p:txBody>
          <a:bodyPr/>
          <a:lstStyle/>
          <a:p>
            <a:endParaRPr lang="en-US"/>
          </a:p>
        </p:txBody>
      </p:sp>
      <p:sp>
        <p:nvSpPr>
          <p:cNvPr id="36" name="Text 34"/>
          <p:cNvSpPr/>
          <p:nvPr/>
        </p:nvSpPr>
        <p:spPr>
          <a:xfrm>
            <a:off x="7799832" y="5056632"/>
            <a:ext cx="3493008" cy="457200"/>
          </a:xfrm>
          <a:prstGeom prst="rect">
            <a:avLst/>
          </a:prstGeom>
          <a:noFill/>
          <a:ln/>
        </p:spPr>
        <p:txBody>
          <a:bodyPr wrap="square" rtlCol="0" anchor="ctr"/>
          <a:lstStyle/>
          <a:p>
            <a:pPr marL="0" indent="0">
              <a:lnSpc>
                <a:spcPct val="122000"/>
              </a:lnSpc>
              <a:buNone/>
            </a:pPr>
            <a:r>
              <a:rPr lang="en-US" sz="950" dirty="0">
                <a:solidFill>
                  <a:srgbClr val="CBD3E1"/>
                </a:solidFill>
                <a:latin typeface="Liberation Sans" pitchFamily="34" charset="0"/>
                <a:ea typeface="Liberation Sans" pitchFamily="34" charset="-122"/>
                <a:cs typeface="Liberation Sans" pitchFamily="34" charset="-120"/>
              </a:rPr>
              <a:t>32,400+ passengers carried, 2,700+ commercial flights completed</a:t>
            </a:r>
            <a:endParaRPr lang="en-US" sz="950" dirty="0"/>
          </a:p>
        </p:txBody>
      </p:sp>
      <p:sp>
        <p:nvSpPr>
          <p:cNvPr id="37" name="Shape 35"/>
          <p:cNvSpPr/>
          <p:nvPr/>
        </p:nvSpPr>
        <p:spPr>
          <a:xfrm>
            <a:off x="7616952" y="5550408"/>
            <a:ext cx="82296" cy="82296"/>
          </a:xfrm>
          <a:prstGeom prst="rect">
            <a:avLst/>
          </a:prstGeom>
          <a:solidFill>
            <a:srgbClr val="C9A227"/>
          </a:solidFill>
          <a:ln/>
        </p:spPr>
        <p:txBody>
          <a:bodyPr/>
          <a:lstStyle/>
          <a:p>
            <a:endParaRPr lang="en-US"/>
          </a:p>
        </p:txBody>
      </p:sp>
      <p:sp>
        <p:nvSpPr>
          <p:cNvPr id="38" name="Text 36"/>
          <p:cNvSpPr/>
          <p:nvPr/>
        </p:nvSpPr>
        <p:spPr>
          <a:xfrm>
            <a:off x="7799832" y="5495544"/>
            <a:ext cx="3493008" cy="457200"/>
          </a:xfrm>
          <a:prstGeom prst="rect">
            <a:avLst/>
          </a:prstGeom>
          <a:noFill/>
          <a:ln/>
        </p:spPr>
        <p:txBody>
          <a:bodyPr wrap="square" rtlCol="0" anchor="ctr"/>
          <a:lstStyle/>
          <a:p>
            <a:pPr marL="0" indent="0">
              <a:lnSpc>
                <a:spcPct val="122000"/>
              </a:lnSpc>
              <a:buNone/>
            </a:pPr>
            <a:r>
              <a:rPr lang="en-US" sz="950" dirty="0">
                <a:solidFill>
                  <a:srgbClr val="CBD3E1"/>
                </a:solidFill>
                <a:latin typeface="Liberation Sans" pitchFamily="34" charset="0"/>
                <a:ea typeface="Liberation Sans" pitchFamily="34" charset="-122"/>
                <a:cs typeface="Liberation Sans" pitchFamily="34" charset="-120"/>
              </a:rPr>
              <a:t>Committed scheduled route network already identified (Freeport – Marsh Harbour, Freeport – Bimini)</a:t>
            </a:r>
            <a:endParaRPr lang="en-US" sz="950" dirty="0"/>
          </a:p>
        </p:txBody>
      </p:sp>
      <p:sp>
        <p:nvSpPr>
          <p:cNvPr id="39" name="Shape 37"/>
          <p:cNvSpPr/>
          <p:nvPr/>
        </p:nvSpPr>
        <p:spPr>
          <a:xfrm>
            <a:off x="7616952" y="5989320"/>
            <a:ext cx="82296" cy="82296"/>
          </a:xfrm>
          <a:prstGeom prst="rect">
            <a:avLst/>
          </a:prstGeom>
          <a:solidFill>
            <a:srgbClr val="C9A227"/>
          </a:solidFill>
          <a:ln/>
        </p:spPr>
        <p:txBody>
          <a:bodyPr/>
          <a:lstStyle/>
          <a:p>
            <a:endParaRPr lang="en-US"/>
          </a:p>
        </p:txBody>
      </p:sp>
      <p:sp>
        <p:nvSpPr>
          <p:cNvPr id="40" name="Text 38"/>
          <p:cNvSpPr/>
          <p:nvPr/>
        </p:nvSpPr>
        <p:spPr>
          <a:xfrm>
            <a:off x="7799832" y="5934456"/>
            <a:ext cx="3493008" cy="457200"/>
          </a:xfrm>
          <a:prstGeom prst="rect">
            <a:avLst/>
          </a:prstGeom>
          <a:noFill/>
          <a:ln/>
        </p:spPr>
        <p:txBody>
          <a:bodyPr wrap="square" rtlCol="0" anchor="ctr"/>
          <a:lstStyle/>
          <a:p>
            <a:pPr marL="0" indent="0">
              <a:lnSpc>
                <a:spcPct val="122000"/>
              </a:lnSpc>
              <a:buNone/>
            </a:pPr>
            <a:r>
              <a:rPr lang="en-US" sz="950" dirty="0">
                <a:solidFill>
                  <a:srgbClr val="CBD3E1"/>
                </a:solidFill>
                <a:latin typeface="Liberation Sans" pitchFamily="34" charset="0"/>
                <a:ea typeface="Liberation Sans" pitchFamily="34" charset="-122"/>
                <a:cs typeface="Liberation Sans" pitchFamily="34" charset="-120"/>
              </a:rPr>
              <a:t>Approximately $500,000 of Zipline's own capital already committed to this initiative</a:t>
            </a:r>
            <a:endParaRPr lang="en-US" sz="950" dirty="0"/>
          </a:p>
        </p:txBody>
      </p:sp>
      <p:sp>
        <p:nvSpPr>
          <p:cNvPr id="41" name="Text 39"/>
          <p:cNvSpPr/>
          <p:nvPr/>
        </p:nvSpPr>
        <p:spPr>
          <a:xfrm>
            <a:off x="548640" y="6455664"/>
            <a:ext cx="6400800" cy="274320"/>
          </a:xfrm>
          <a:prstGeom prst="rect">
            <a:avLst/>
          </a:prstGeom>
          <a:noFill/>
          <a:ln/>
        </p:spPr>
        <p:txBody>
          <a:bodyPr wrap="square" rtlCol="0" anchor="ctr"/>
          <a:lstStyle/>
          <a:p>
            <a:pPr marL="0" indent="0" algn="l">
              <a:buNone/>
            </a:pPr>
            <a:r>
              <a:rPr lang="en-US" sz="800" kern="0" spc="100" dirty="0">
                <a:solidFill>
                  <a:srgbClr val="7C8BA8"/>
                </a:solidFill>
                <a:latin typeface="Liberation Sans" pitchFamily="34" charset="0"/>
                <a:ea typeface="Liberation Sans" pitchFamily="34" charset="-122"/>
                <a:cs typeface="Liberation Sans" pitchFamily="34" charset="-120"/>
              </a:rPr>
              <a:t>ZIPLINE EXPRESS  ·  CONFIDENTIAL  ·  09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rtlCol="0" anchor="ctr"/>
          <a:lstStyle/>
          <a:p>
            <a:pPr marL="0" indent="0" algn="l">
              <a:buNone/>
            </a:pPr>
            <a:r>
              <a:rPr lang="en-US" sz="1250" b="1" kern="0" spc="240" dirty="0">
                <a:solidFill>
                  <a:srgbClr val="C9A227"/>
                </a:solidFill>
                <a:latin typeface="Liberation Sans" pitchFamily="34" charset="0"/>
                <a:ea typeface="Liberation Sans" pitchFamily="34" charset="-122"/>
                <a:cs typeface="Liberation Sans" pitchFamily="34" charset="-120"/>
              </a:rPr>
              <a:t>CAPITAL COMMITMENT</a:t>
            </a:r>
            <a:endParaRPr lang="en-US" sz="1250" dirty="0"/>
          </a:p>
        </p:txBody>
      </p:sp>
      <p:sp>
        <p:nvSpPr>
          <p:cNvPr id="3" name="Text 1"/>
          <p:cNvSpPr/>
          <p:nvPr/>
        </p:nvSpPr>
        <p:spPr>
          <a:xfrm>
            <a:off x="640080" y="868680"/>
            <a:ext cx="9601200" cy="640080"/>
          </a:xfrm>
          <a:prstGeom prst="rect">
            <a:avLst/>
          </a:prstGeom>
          <a:noFill/>
          <a:ln/>
        </p:spPr>
        <p:txBody>
          <a:bodyPr wrap="square" rtlCol="0" anchor="ctr"/>
          <a:lstStyle/>
          <a:p>
            <a:pPr marL="0" indent="0">
              <a:buNone/>
            </a:pPr>
            <a:r>
              <a:rPr lang="en-US" sz="2800" dirty="0">
                <a:solidFill>
                  <a:srgbClr val="13233D"/>
                </a:solidFill>
                <a:latin typeface="Liberation Serif" pitchFamily="34" charset="0"/>
                <a:ea typeface="Liberation Serif" pitchFamily="34" charset="-122"/>
                <a:cs typeface="Liberation Serif" pitchFamily="34" charset="-120"/>
              </a:rPr>
              <a:t>Zipline's Own Capital Commitment</a:t>
            </a:r>
            <a:endParaRPr lang="en-US" sz="2800" dirty="0"/>
          </a:p>
        </p:txBody>
      </p:sp>
      <p:sp>
        <p:nvSpPr>
          <p:cNvPr id="4" name="Text 2"/>
          <p:cNvSpPr/>
          <p:nvPr/>
        </p:nvSpPr>
        <p:spPr>
          <a:xfrm>
            <a:off x="640080" y="1508760"/>
            <a:ext cx="10881360" cy="502920"/>
          </a:xfrm>
          <a:prstGeom prst="rect">
            <a:avLst/>
          </a:prstGeom>
          <a:noFill/>
          <a:ln/>
        </p:spPr>
        <p:txBody>
          <a:bodyPr wrap="square" rtlCol="0" anchor="ctr"/>
          <a:lstStyle/>
          <a:p>
            <a:pPr marL="0" indent="0">
              <a:lnSpc>
                <a:spcPct val="130000"/>
              </a:lnSpc>
              <a:buNone/>
            </a:pPr>
            <a:r>
              <a:rPr lang="en-US" sz="1200" i="1" dirty="0">
                <a:solidFill>
                  <a:srgbClr val="62708A"/>
                </a:solidFill>
                <a:latin typeface="Liberation Sans" pitchFamily="34" charset="0"/>
                <a:ea typeface="Liberation Sans" pitchFamily="34" charset="-122"/>
                <a:cs typeface="Liberation Sans" pitchFamily="34" charset="-120"/>
              </a:rPr>
              <a:t>Zipline Express is not seeking full financing. The Company has committed its own resources to this initiative, and is seeking a leasing or financing partner for the aircraft itself.</a:t>
            </a:r>
            <a:endParaRPr lang="en-US" sz="1200" dirty="0"/>
          </a:p>
        </p:txBody>
      </p:sp>
      <p:sp>
        <p:nvSpPr>
          <p:cNvPr id="5" name="Shape 3"/>
          <p:cNvSpPr/>
          <p:nvPr/>
        </p:nvSpPr>
        <p:spPr>
          <a:xfrm>
            <a:off x="640080" y="2240280"/>
            <a:ext cx="4206240" cy="3977640"/>
          </a:xfrm>
          <a:prstGeom prst="rect">
            <a:avLst/>
          </a:prstGeom>
          <a:solidFill>
            <a:srgbClr val="13233D"/>
          </a:solidFill>
          <a:ln/>
        </p:spPr>
        <p:txBody>
          <a:bodyPr/>
          <a:lstStyle/>
          <a:p>
            <a:endParaRPr lang="en-US"/>
          </a:p>
        </p:txBody>
      </p:sp>
      <p:sp>
        <p:nvSpPr>
          <p:cNvPr id="6" name="Text 4"/>
          <p:cNvSpPr/>
          <p:nvPr/>
        </p:nvSpPr>
        <p:spPr>
          <a:xfrm>
            <a:off x="914400" y="2514600"/>
            <a:ext cx="3657600" cy="274320"/>
          </a:xfrm>
          <a:prstGeom prst="rect">
            <a:avLst/>
          </a:prstGeom>
          <a:noFill/>
          <a:ln/>
        </p:spPr>
        <p:txBody>
          <a:bodyPr wrap="square" rtlCol="0" anchor="ctr"/>
          <a:lstStyle/>
          <a:p>
            <a:pPr marL="0" indent="0">
              <a:buNone/>
            </a:pPr>
            <a:r>
              <a:rPr lang="en-US" sz="1000" b="1" kern="0" spc="120" dirty="0">
                <a:solidFill>
                  <a:srgbClr val="E8CD73"/>
                </a:solidFill>
                <a:latin typeface="Liberation Sans" pitchFamily="34" charset="0"/>
                <a:ea typeface="Liberation Sans" pitchFamily="34" charset="-122"/>
                <a:cs typeface="Liberation Sans" pitchFamily="34" charset="-120"/>
              </a:rPr>
              <a:t>APPROXIMATE CAPITAL AVAILABLE</a:t>
            </a:r>
            <a:endParaRPr lang="en-US" sz="1000" dirty="0"/>
          </a:p>
        </p:txBody>
      </p:sp>
      <p:sp>
        <p:nvSpPr>
          <p:cNvPr id="7" name="Text 5"/>
          <p:cNvSpPr/>
          <p:nvPr/>
        </p:nvSpPr>
        <p:spPr>
          <a:xfrm>
            <a:off x="914400" y="2834640"/>
            <a:ext cx="3657600" cy="868680"/>
          </a:xfrm>
          <a:prstGeom prst="rect">
            <a:avLst/>
          </a:prstGeom>
          <a:noFill/>
          <a:ln/>
        </p:spPr>
        <p:txBody>
          <a:bodyPr wrap="square" rtlCol="0" anchor="ctr"/>
          <a:lstStyle/>
          <a:p>
            <a:pPr marL="0" indent="0">
              <a:buNone/>
            </a:pPr>
            <a:r>
              <a:rPr lang="en-US" sz="4400" b="1" dirty="0">
                <a:solidFill>
                  <a:srgbClr val="FFFFFF"/>
                </a:solidFill>
                <a:latin typeface="Liberation Serif" pitchFamily="34" charset="0"/>
                <a:ea typeface="Liberation Serif" pitchFamily="34" charset="-122"/>
                <a:cs typeface="Liberation Serif" pitchFamily="34" charset="-120"/>
              </a:rPr>
              <a:t>$500,000</a:t>
            </a:r>
            <a:endParaRPr lang="en-US" sz="4400" dirty="0"/>
          </a:p>
        </p:txBody>
      </p:sp>
      <p:sp>
        <p:nvSpPr>
          <p:cNvPr id="8" name="Text 6"/>
          <p:cNvSpPr/>
          <p:nvPr/>
        </p:nvSpPr>
        <p:spPr>
          <a:xfrm>
            <a:off x="914400" y="3703320"/>
            <a:ext cx="3657600" cy="365760"/>
          </a:xfrm>
          <a:prstGeom prst="rect">
            <a:avLst/>
          </a:prstGeom>
          <a:noFill/>
          <a:ln/>
        </p:spPr>
        <p:txBody>
          <a:bodyPr wrap="square" rtlCol="0" anchor="ctr"/>
          <a:lstStyle/>
          <a:p>
            <a:pPr marL="0" indent="0">
              <a:buNone/>
            </a:pPr>
            <a:r>
              <a:rPr lang="en-US" sz="1100" dirty="0">
                <a:solidFill>
                  <a:srgbClr val="AEB9CC"/>
                </a:solidFill>
                <a:latin typeface="Liberation Sans" pitchFamily="34" charset="0"/>
                <a:ea typeface="Liberation Sans" pitchFamily="34" charset="-122"/>
                <a:cs typeface="Liberation Sans" pitchFamily="34" charset="-120"/>
              </a:rPr>
              <a:t>From Zipline Express's own resources</a:t>
            </a:r>
            <a:endParaRPr lang="en-US" sz="1100" dirty="0"/>
          </a:p>
        </p:txBody>
      </p:sp>
      <p:sp>
        <p:nvSpPr>
          <p:cNvPr id="9" name="Shape 7"/>
          <p:cNvSpPr/>
          <p:nvPr/>
        </p:nvSpPr>
        <p:spPr>
          <a:xfrm>
            <a:off x="914400" y="4251960"/>
            <a:ext cx="3383280" cy="12802"/>
          </a:xfrm>
          <a:prstGeom prst="rect">
            <a:avLst/>
          </a:prstGeom>
          <a:solidFill>
            <a:srgbClr val="C9A227"/>
          </a:solidFill>
          <a:ln/>
        </p:spPr>
        <p:txBody>
          <a:bodyPr/>
          <a:lstStyle/>
          <a:p>
            <a:endParaRPr lang="en-US"/>
          </a:p>
        </p:txBody>
      </p:sp>
      <p:sp>
        <p:nvSpPr>
          <p:cNvPr id="10" name="Text 8"/>
          <p:cNvSpPr/>
          <p:nvPr/>
        </p:nvSpPr>
        <p:spPr>
          <a:xfrm>
            <a:off x="914400" y="4434840"/>
            <a:ext cx="3657600" cy="1600200"/>
          </a:xfrm>
          <a:prstGeom prst="rect">
            <a:avLst/>
          </a:prstGeom>
          <a:noFill/>
          <a:ln/>
        </p:spPr>
        <p:txBody>
          <a:bodyPr wrap="square" rtlCol="0" anchor="ctr"/>
          <a:lstStyle/>
          <a:p>
            <a:pPr marL="0" indent="0">
              <a:lnSpc>
                <a:spcPct val="135000"/>
              </a:lnSpc>
              <a:buNone/>
            </a:pPr>
            <a:r>
              <a:rPr lang="en-US" sz="1050" dirty="0">
                <a:solidFill>
                  <a:srgbClr val="CBD3E1"/>
                </a:solidFill>
                <a:latin typeface="Liberation Sans" pitchFamily="34" charset="0"/>
                <a:ea typeface="Liberation Sans" pitchFamily="34" charset="-122"/>
                <a:cs typeface="Liberation Sans" pitchFamily="34" charset="-120"/>
              </a:rPr>
              <a:t>This capital is available to support security deposits, initial lease payments, crew training, insurance deposits and working capital reserves — independent of, and in addition to, any lease or financing arrangement for the aircraft itself.</a:t>
            </a:r>
            <a:endParaRPr lang="en-US" sz="1050" dirty="0"/>
          </a:p>
        </p:txBody>
      </p:sp>
      <p:sp>
        <p:nvSpPr>
          <p:cNvPr id="11" name="Text 9"/>
          <p:cNvSpPr/>
          <p:nvPr/>
        </p:nvSpPr>
        <p:spPr>
          <a:xfrm>
            <a:off x="5257800" y="2240280"/>
            <a:ext cx="6291072" cy="274320"/>
          </a:xfrm>
          <a:prstGeom prst="rect">
            <a:avLst/>
          </a:prstGeom>
          <a:noFill/>
          <a:ln/>
        </p:spPr>
        <p:txBody>
          <a:bodyPr wrap="square" rtlCol="0" anchor="ctr"/>
          <a:lstStyle/>
          <a:p>
            <a:pPr marL="0" indent="0">
              <a:buNone/>
            </a:pPr>
            <a:r>
              <a:rPr lang="en-US" sz="1050" b="1" kern="0" spc="130" dirty="0">
                <a:solidFill>
                  <a:srgbClr val="C9A227"/>
                </a:solidFill>
                <a:latin typeface="Liberation Sans" pitchFamily="34" charset="0"/>
                <a:ea typeface="Liberation Sans" pitchFamily="34" charset="-122"/>
                <a:cs typeface="Liberation Sans" pitchFamily="34" charset="-120"/>
              </a:rPr>
              <a:t>WHAT THIS DEMONSTRATES</a:t>
            </a:r>
            <a:endParaRPr lang="en-US" sz="1050" dirty="0"/>
          </a:p>
        </p:txBody>
      </p:sp>
      <p:sp>
        <p:nvSpPr>
          <p:cNvPr id="12" name="Shape 10"/>
          <p:cNvSpPr/>
          <p:nvPr/>
        </p:nvSpPr>
        <p:spPr>
          <a:xfrm>
            <a:off x="5257800" y="2606040"/>
            <a:ext cx="6291072" cy="1051560"/>
          </a:xfrm>
          <a:prstGeom prst="rect">
            <a:avLst/>
          </a:prstGeom>
          <a:solidFill>
            <a:srgbClr val="F6F7F9"/>
          </a:solidFill>
          <a:ln/>
        </p:spPr>
        <p:txBody>
          <a:bodyPr/>
          <a:lstStyle/>
          <a:p>
            <a:endParaRPr lang="en-US"/>
          </a:p>
        </p:txBody>
      </p:sp>
      <p:sp>
        <p:nvSpPr>
          <p:cNvPr id="13" name="Shape 11"/>
          <p:cNvSpPr/>
          <p:nvPr/>
        </p:nvSpPr>
        <p:spPr>
          <a:xfrm>
            <a:off x="5257800" y="2606040"/>
            <a:ext cx="54864" cy="1051560"/>
          </a:xfrm>
          <a:prstGeom prst="rect">
            <a:avLst/>
          </a:prstGeom>
          <a:solidFill>
            <a:srgbClr val="C9A227"/>
          </a:solidFill>
          <a:ln/>
        </p:spPr>
        <p:txBody>
          <a:bodyPr/>
          <a:lstStyle/>
          <a:p>
            <a:endParaRPr lang="en-US"/>
          </a:p>
        </p:txBody>
      </p:sp>
      <p:sp>
        <p:nvSpPr>
          <p:cNvPr id="14" name="Text 12"/>
          <p:cNvSpPr/>
          <p:nvPr/>
        </p:nvSpPr>
        <p:spPr>
          <a:xfrm>
            <a:off x="5513832" y="2734056"/>
            <a:ext cx="5779008" cy="320040"/>
          </a:xfrm>
          <a:prstGeom prst="rect">
            <a:avLst/>
          </a:prstGeom>
          <a:noFill/>
          <a:ln/>
        </p:spPr>
        <p:txBody>
          <a:bodyPr wrap="square" rtlCol="0" anchor="ctr"/>
          <a:lstStyle/>
          <a:p>
            <a:pPr marL="0" indent="0">
              <a:buNone/>
            </a:pPr>
            <a:r>
              <a:rPr lang="en-US" sz="1250" b="1" dirty="0">
                <a:solidFill>
                  <a:srgbClr val="13233D"/>
                </a:solidFill>
                <a:latin typeface="Liberation Sans" pitchFamily="34" charset="0"/>
                <a:ea typeface="Liberation Sans" pitchFamily="34" charset="-122"/>
                <a:cs typeface="Liberation Sans" pitchFamily="34" charset="-120"/>
              </a:rPr>
              <a:t>Committed Capital, Not Just a Plan</a:t>
            </a:r>
            <a:endParaRPr lang="en-US" sz="1250" dirty="0"/>
          </a:p>
        </p:txBody>
      </p:sp>
      <p:sp>
        <p:nvSpPr>
          <p:cNvPr id="15" name="Text 13"/>
          <p:cNvSpPr/>
          <p:nvPr/>
        </p:nvSpPr>
        <p:spPr>
          <a:xfrm>
            <a:off x="5513832" y="3063240"/>
            <a:ext cx="5779008" cy="548640"/>
          </a:xfrm>
          <a:prstGeom prst="rect">
            <a:avLst/>
          </a:prstGeom>
          <a:noFill/>
          <a:ln/>
        </p:spPr>
        <p:txBody>
          <a:bodyPr wrap="square" rtlCol="0" anchor="ctr"/>
          <a:lstStyle/>
          <a:p>
            <a:pPr marL="0" indent="0">
              <a:lnSpc>
                <a:spcPct val="125000"/>
              </a:lnSpc>
              <a:buNone/>
            </a:pPr>
            <a:r>
              <a:rPr lang="en-US" sz="1000" dirty="0">
                <a:solidFill>
                  <a:srgbClr val="62708A"/>
                </a:solidFill>
                <a:latin typeface="Liberation Sans" pitchFamily="34" charset="0"/>
                <a:ea typeface="Liberation Sans" pitchFamily="34" charset="-122"/>
                <a:cs typeface="Liberation Sans" pitchFamily="34" charset="-120"/>
              </a:rPr>
              <a:t>Zipline has already set aside its own funds — this is not a request to fund 100% of the initiative from an external source.</a:t>
            </a:r>
            <a:endParaRPr lang="en-US" sz="1000" dirty="0"/>
          </a:p>
        </p:txBody>
      </p:sp>
      <p:sp>
        <p:nvSpPr>
          <p:cNvPr id="16" name="Shape 14"/>
          <p:cNvSpPr/>
          <p:nvPr/>
        </p:nvSpPr>
        <p:spPr>
          <a:xfrm>
            <a:off x="5257800" y="3813048"/>
            <a:ext cx="6291072" cy="1051560"/>
          </a:xfrm>
          <a:prstGeom prst="rect">
            <a:avLst/>
          </a:prstGeom>
          <a:solidFill>
            <a:srgbClr val="F6F7F9"/>
          </a:solidFill>
          <a:ln/>
        </p:spPr>
        <p:txBody>
          <a:bodyPr/>
          <a:lstStyle/>
          <a:p>
            <a:endParaRPr lang="en-US"/>
          </a:p>
        </p:txBody>
      </p:sp>
      <p:sp>
        <p:nvSpPr>
          <p:cNvPr id="17" name="Shape 15"/>
          <p:cNvSpPr/>
          <p:nvPr/>
        </p:nvSpPr>
        <p:spPr>
          <a:xfrm>
            <a:off x="5257800" y="3813048"/>
            <a:ext cx="54864" cy="1051560"/>
          </a:xfrm>
          <a:prstGeom prst="rect">
            <a:avLst/>
          </a:prstGeom>
          <a:solidFill>
            <a:srgbClr val="C9A227"/>
          </a:solidFill>
          <a:ln/>
        </p:spPr>
        <p:txBody>
          <a:bodyPr/>
          <a:lstStyle/>
          <a:p>
            <a:endParaRPr lang="en-US"/>
          </a:p>
        </p:txBody>
      </p:sp>
      <p:sp>
        <p:nvSpPr>
          <p:cNvPr id="18" name="Text 16"/>
          <p:cNvSpPr/>
          <p:nvPr/>
        </p:nvSpPr>
        <p:spPr>
          <a:xfrm>
            <a:off x="5513832" y="3941064"/>
            <a:ext cx="5779008" cy="320040"/>
          </a:xfrm>
          <a:prstGeom prst="rect">
            <a:avLst/>
          </a:prstGeom>
          <a:noFill/>
          <a:ln/>
        </p:spPr>
        <p:txBody>
          <a:bodyPr wrap="square" rtlCol="0" anchor="ctr"/>
          <a:lstStyle/>
          <a:p>
            <a:pPr marL="0" indent="0">
              <a:buNone/>
            </a:pPr>
            <a:r>
              <a:rPr lang="en-US" sz="1250" b="1" dirty="0">
                <a:solidFill>
                  <a:srgbClr val="13233D"/>
                </a:solidFill>
                <a:latin typeface="Liberation Sans" pitchFamily="34" charset="0"/>
                <a:ea typeface="Liberation Sans" pitchFamily="34" charset="-122"/>
                <a:cs typeface="Liberation Sans" pitchFamily="34" charset="-120"/>
              </a:rPr>
              <a:t>Reduced Counterparty Risk</a:t>
            </a:r>
            <a:endParaRPr lang="en-US" sz="1250" dirty="0"/>
          </a:p>
        </p:txBody>
      </p:sp>
      <p:sp>
        <p:nvSpPr>
          <p:cNvPr id="19" name="Text 17"/>
          <p:cNvSpPr/>
          <p:nvPr/>
        </p:nvSpPr>
        <p:spPr>
          <a:xfrm>
            <a:off x="5513832" y="4270248"/>
            <a:ext cx="5779008" cy="548640"/>
          </a:xfrm>
          <a:prstGeom prst="rect">
            <a:avLst/>
          </a:prstGeom>
          <a:noFill/>
          <a:ln/>
        </p:spPr>
        <p:txBody>
          <a:bodyPr wrap="square" rtlCol="0" anchor="ctr"/>
          <a:lstStyle/>
          <a:p>
            <a:pPr marL="0" indent="0">
              <a:lnSpc>
                <a:spcPct val="125000"/>
              </a:lnSpc>
              <a:buNone/>
            </a:pPr>
            <a:r>
              <a:rPr lang="en-US" sz="1000" dirty="0">
                <a:solidFill>
                  <a:srgbClr val="62708A"/>
                </a:solidFill>
                <a:latin typeface="Liberation Sans" pitchFamily="34" charset="0"/>
                <a:ea typeface="Liberation Sans" pitchFamily="34" charset="-122"/>
                <a:cs typeface="Liberation Sans" pitchFamily="34" charset="-120"/>
              </a:rPr>
              <a:t>A lessor or financier is not the sole source of capital behind this expansion; the Company shares the financial commitment.</a:t>
            </a:r>
            <a:endParaRPr lang="en-US" sz="1000" dirty="0"/>
          </a:p>
        </p:txBody>
      </p:sp>
      <p:sp>
        <p:nvSpPr>
          <p:cNvPr id="20" name="Shape 18"/>
          <p:cNvSpPr/>
          <p:nvPr/>
        </p:nvSpPr>
        <p:spPr>
          <a:xfrm>
            <a:off x="5257800" y="5020056"/>
            <a:ext cx="6291072" cy="1051560"/>
          </a:xfrm>
          <a:prstGeom prst="rect">
            <a:avLst/>
          </a:prstGeom>
          <a:solidFill>
            <a:srgbClr val="F6F7F9"/>
          </a:solidFill>
          <a:ln/>
        </p:spPr>
        <p:txBody>
          <a:bodyPr/>
          <a:lstStyle/>
          <a:p>
            <a:endParaRPr lang="en-US"/>
          </a:p>
        </p:txBody>
      </p:sp>
      <p:sp>
        <p:nvSpPr>
          <p:cNvPr id="21" name="Shape 19"/>
          <p:cNvSpPr/>
          <p:nvPr/>
        </p:nvSpPr>
        <p:spPr>
          <a:xfrm>
            <a:off x="5257800" y="5020056"/>
            <a:ext cx="54864" cy="1051560"/>
          </a:xfrm>
          <a:prstGeom prst="rect">
            <a:avLst/>
          </a:prstGeom>
          <a:solidFill>
            <a:srgbClr val="C9A227"/>
          </a:solidFill>
          <a:ln/>
        </p:spPr>
        <p:txBody>
          <a:bodyPr/>
          <a:lstStyle/>
          <a:p>
            <a:endParaRPr lang="en-US"/>
          </a:p>
        </p:txBody>
      </p:sp>
      <p:sp>
        <p:nvSpPr>
          <p:cNvPr id="22" name="Text 20"/>
          <p:cNvSpPr/>
          <p:nvPr/>
        </p:nvSpPr>
        <p:spPr>
          <a:xfrm>
            <a:off x="5513832" y="5148072"/>
            <a:ext cx="5779008" cy="320040"/>
          </a:xfrm>
          <a:prstGeom prst="rect">
            <a:avLst/>
          </a:prstGeom>
          <a:noFill/>
          <a:ln/>
        </p:spPr>
        <p:txBody>
          <a:bodyPr wrap="square" rtlCol="0" anchor="ctr"/>
          <a:lstStyle/>
          <a:p>
            <a:pPr marL="0" indent="0">
              <a:buNone/>
            </a:pPr>
            <a:r>
              <a:rPr lang="en-US" sz="1250" b="1" dirty="0">
                <a:solidFill>
                  <a:srgbClr val="13233D"/>
                </a:solidFill>
                <a:latin typeface="Liberation Sans" pitchFamily="34" charset="0"/>
                <a:ea typeface="Liberation Sans" pitchFamily="34" charset="-122"/>
                <a:cs typeface="Liberation Sans" pitchFamily="34" charset="-120"/>
              </a:rPr>
              <a:t>Operational Readiness</a:t>
            </a:r>
            <a:endParaRPr lang="en-US" sz="1250" dirty="0"/>
          </a:p>
        </p:txBody>
      </p:sp>
      <p:sp>
        <p:nvSpPr>
          <p:cNvPr id="23" name="Text 21"/>
          <p:cNvSpPr/>
          <p:nvPr/>
        </p:nvSpPr>
        <p:spPr>
          <a:xfrm>
            <a:off x="5513832" y="5477256"/>
            <a:ext cx="5779008" cy="548640"/>
          </a:xfrm>
          <a:prstGeom prst="rect">
            <a:avLst/>
          </a:prstGeom>
          <a:noFill/>
          <a:ln/>
        </p:spPr>
        <p:txBody>
          <a:bodyPr wrap="square" rtlCol="0" anchor="ctr"/>
          <a:lstStyle/>
          <a:p>
            <a:pPr marL="0" indent="0">
              <a:lnSpc>
                <a:spcPct val="125000"/>
              </a:lnSpc>
              <a:buNone/>
            </a:pPr>
            <a:r>
              <a:rPr lang="en-US" sz="1000" dirty="0">
                <a:solidFill>
                  <a:srgbClr val="62708A"/>
                </a:solidFill>
                <a:latin typeface="Liberation Sans" pitchFamily="34" charset="0"/>
                <a:ea typeface="Liberation Sans" pitchFamily="34" charset="-122"/>
                <a:cs typeface="Liberation Sans" pitchFamily="34" charset="-120"/>
              </a:rPr>
              <a:t>These funds support the practical steps of entry into service — training, insurance, working capital — alongside the leased or financed aircraft.</a:t>
            </a:r>
            <a:endParaRPr lang="en-US" sz="1000" dirty="0"/>
          </a:p>
        </p:txBody>
      </p:sp>
      <p:sp>
        <p:nvSpPr>
          <p:cNvPr id="24" name="Text 22"/>
          <p:cNvSpPr/>
          <p:nvPr/>
        </p:nvSpPr>
        <p:spPr>
          <a:xfrm>
            <a:off x="548640" y="6455664"/>
            <a:ext cx="6400800" cy="274320"/>
          </a:xfrm>
          <a:prstGeom prst="rect">
            <a:avLst/>
          </a:prstGeom>
          <a:noFill/>
          <a:ln/>
        </p:spPr>
        <p:txBody>
          <a:bodyPr wrap="square" rtlCol="0" anchor="ctr"/>
          <a:lstStyle/>
          <a:p>
            <a:pPr marL="0" indent="0" algn="l">
              <a:buNone/>
            </a:pPr>
            <a:r>
              <a:rPr lang="en-US" sz="800" kern="0" spc="100" dirty="0">
                <a:solidFill>
                  <a:srgbClr val="9AA3B5"/>
                </a:solidFill>
                <a:latin typeface="Liberation Sans" pitchFamily="34" charset="0"/>
                <a:ea typeface="Liberation Sans" pitchFamily="34" charset="-122"/>
                <a:cs typeface="Liberation Sans" pitchFamily="34" charset="-120"/>
              </a:rPr>
              <a:t>ZIPLINE EXPRESS  ·  CONFIDENTIAL  ·  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assets/crop_s12_safety_kingair.jpg"/>
          <p:cNvPicPr>
            <a:picLocks noChangeAspect="1"/>
          </p:cNvPicPr>
          <p:nvPr/>
        </p:nvPicPr>
        <p:blipFill>
          <a:blip r:embed="rId3"/>
          <a:stretch>
            <a:fillRect/>
          </a:stretch>
        </p:blipFill>
        <p:spPr>
          <a:xfrm>
            <a:off x="0" y="0"/>
            <a:ext cx="5120640" cy="6858000"/>
          </a:xfrm>
          <a:prstGeom prst="rect">
            <a:avLst/>
          </a:prstGeom>
        </p:spPr>
      </p:pic>
      <p:sp>
        <p:nvSpPr>
          <p:cNvPr id="3" name="Shape 0"/>
          <p:cNvSpPr/>
          <p:nvPr/>
        </p:nvSpPr>
        <p:spPr>
          <a:xfrm>
            <a:off x="0" y="0"/>
            <a:ext cx="5120640" cy="6858000"/>
          </a:xfrm>
          <a:prstGeom prst="rect">
            <a:avLst/>
          </a:prstGeom>
          <a:solidFill>
            <a:srgbClr val="0B1626">
              <a:alpha val="28000"/>
            </a:srgbClr>
          </a:solidFill>
          <a:ln/>
        </p:spPr>
        <p:txBody>
          <a:bodyPr/>
          <a:lstStyle/>
          <a:p>
            <a:endParaRPr lang="en-US"/>
          </a:p>
        </p:txBody>
      </p:sp>
      <p:sp>
        <p:nvSpPr>
          <p:cNvPr id="4" name="Text 1"/>
          <p:cNvSpPr/>
          <p:nvPr/>
        </p:nvSpPr>
        <p:spPr>
          <a:xfrm>
            <a:off x="5486400" y="685800"/>
            <a:ext cx="7315200" cy="320040"/>
          </a:xfrm>
          <a:prstGeom prst="rect">
            <a:avLst/>
          </a:prstGeom>
          <a:noFill/>
          <a:ln/>
        </p:spPr>
        <p:txBody>
          <a:bodyPr wrap="square" rtlCol="0" anchor="ctr"/>
          <a:lstStyle/>
          <a:p>
            <a:pPr marL="0" indent="0" algn="l">
              <a:buNone/>
            </a:pPr>
            <a:r>
              <a:rPr lang="en-US" sz="1250" b="1" kern="0" spc="240" dirty="0">
                <a:solidFill>
                  <a:srgbClr val="C9A227"/>
                </a:solidFill>
                <a:latin typeface="Liberation Sans" pitchFamily="34" charset="0"/>
                <a:ea typeface="Liberation Sans" pitchFamily="34" charset="-122"/>
                <a:cs typeface="Liberation Sans" pitchFamily="34" charset="-120"/>
              </a:rPr>
              <a:t>SAFETY &amp; OPERATIONS</a:t>
            </a:r>
            <a:endParaRPr lang="en-US" sz="1250" dirty="0"/>
          </a:p>
        </p:txBody>
      </p:sp>
      <p:sp>
        <p:nvSpPr>
          <p:cNvPr id="5" name="Text 2"/>
          <p:cNvSpPr/>
          <p:nvPr/>
        </p:nvSpPr>
        <p:spPr>
          <a:xfrm>
            <a:off x="5486400" y="1097280"/>
            <a:ext cx="6035040" cy="1188720"/>
          </a:xfrm>
          <a:prstGeom prst="rect">
            <a:avLst/>
          </a:prstGeom>
          <a:noFill/>
          <a:ln/>
        </p:spPr>
        <p:txBody>
          <a:bodyPr wrap="square" rtlCol="0" anchor="ctr"/>
          <a:lstStyle/>
          <a:p>
            <a:pPr marL="0" indent="0">
              <a:lnSpc>
                <a:spcPct val="112000"/>
              </a:lnSpc>
              <a:buNone/>
            </a:pPr>
            <a:r>
              <a:rPr lang="en-US" sz="2700" dirty="0">
                <a:solidFill>
                  <a:srgbClr val="13233D"/>
                </a:solidFill>
                <a:latin typeface="Liberation Serif" pitchFamily="34" charset="0"/>
                <a:ea typeface="Liberation Serif" pitchFamily="34" charset="-122"/>
                <a:cs typeface="Liberation Serif" pitchFamily="34" charset="-120"/>
              </a:rPr>
              <a:t>Safety &amp; Operational</a:t>
            </a:r>
            <a:endParaRPr lang="en-US" sz="2700" dirty="0"/>
          </a:p>
          <a:p>
            <a:pPr marL="0" indent="0">
              <a:lnSpc>
                <a:spcPct val="112000"/>
              </a:lnSpc>
              <a:buNone/>
            </a:pPr>
            <a:r>
              <a:rPr lang="en-US" sz="2700" dirty="0">
                <a:solidFill>
                  <a:srgbClr val="13233D"/>
                </a:solidFill>
                <a:latin typeface="Liberation Serif" pitchFamily="34" charset="0"/>
                <a:ea typeface="Liberation Serif" pitchFamily="34" charset="-122"/>
                <a:cs typeface="Liberation Serif" pitchFamily="34" charset="-120"/>
              </a:rPr>
              <a:t>Excellence</a:t>
            </a:r>
            <a:endParaRPr lang="en-US" sz="2700" dirty="0"/>
          </a:p>
        </p:txBody>
      </p:sp>
      <p:sp>
        <p:nvSpPr>
          <p:cNvPr id="6" name="Text 3"/>
          <p:cNvSpPr/>
          <p:nvPr/>
        </p:nvSpPr>
        <p:spPr>
          <a:xfrm>
            <a:off x="5486400" y="2377440"/>
            <a:ext cx="6035040" cy="457200"/>
          </a:xfrm>
          <a:prstGeom prst="rect">
            <a:avLst/>
          </a:prstGeom>
          <a:noFill/>
          <a:ln/>
        </p:spPr>
        <p:txBody>
          <a:bodyPr wrap="square" rtlCol="0" anchor="ctr"/>
          <a:lstStyle/>
          <a:p>
            <a:pPr marL="0" indent="0">
              <a:buNone/>
            </a:pPr>
            <a:r>
              <a:rPr lang="en-US" sz="1500" i="1" dirty="0">
                <a:solidFill>
                  <a:srgbClr val="13233D"/>
                </a:solidFill>
                <a:latin typeface="Liberation Serif" pitchFamily="34" charset="0"/>
                <a:ea typeface="Liberation Serif" pitchFamily="34" charset="-122"/>
                <a:cs typeface="Liberation Serif" pitchFamily="34" charset="-120"/>
              </a:rPr>
              <a:t>Safety is the foundation of Zipline Express.</a:t>
            </a:r>
            <a:endParaRPr lang="en-US" sz="1500" dirty="0"/>
          </a:p>
        </p:txBody>
      </p:sp>
      <p:sp>
        <p:nvSpPr>
          <p:cNvPr id="7" name="Shape 4"/>
          <p:cNvSpPr/>
          <p:nvPr/>
        </p:nvSpPr>
        <p:spPr>
          <a:xfrm>
            <a:off x="5486400" y="3090672"/>
            <a:ext cx="146304" cy="146304"/>
          </a:xfrm>
          <a:prstGeom prst="rect">
            <a:avLst/>
          </a:prstGeom>
          <a:solidFill>
            <a:srgbClr val="C9A227"/>
          </a:solidFill>
          <a:ln/>
        </p:spPr>
        <p:txBody>
          <a:bodyPr/>
          <a:lstStyle/>
          <a:p>
            <a:endParaRPr lang="en-US"/>
          </a:p>
        </p:txBody>
      </p:sp>
      <p:sp>
        <p:nvSpPr>
          <p:cNvPr id="8" name="Text 5"/>
          <p:cNvSpPr/>
          <p:nvPr/>
        </p:nvSpPr>
        <p:spPr>
          <a:xfrm>
            <a:off x="5779008" y="3017520"/>
            <a:ext cx="5760720" cy="777240"/>
          </a:xfrm>
          <a:prstGeom prst="rect">
            <a:avLst/>
          </a:prstGeom>
          <a:noFill/>
          <a:ln/>
        </p:spPr>
        <p:txBody>
          <a:bodyPr wrap="square" rtlCol="0" anchor="ctr"/>
          <a:lstStyle/>
          <a:p>
            <a:pPr marL="0" indent="0">
              <a:lnSpc>
                <a:spcPct val="130000"/>
              </a:lnSpc>
              <a:buNone/>
            </a:pPr>
            <a:r>
              <a:rPr lang="en-US" sz="1200" dirty="0">
                <a:solidFill>
                  <a:srgbClr val="1B2740"/>
                </a:solidFill>
                <a:latin typeface="Liberation Sans" pitchFamily="34" charset="0"/>
                <a:ea typeface="Liberation Sans" pitchFamily="34" charset="-122"/>
                <a:cs typeface="Liberation Sans" pitchFamily="34" charset="-120"/>
              </a:rPr>
              <a:t>Our aircraft are maintained in accordance with manufacturer maintenance requirements by GES Aviation, our experienced Nassau-based maintenance provider.</a:t>
            </a:r>
            <a:endParaRPr lang="en-US" sz="1200" dirty="0"/>
          </a:p>
        </p:txBody>
      </p:sp>
      <p:sp>
        <p:nvSpPr>
          <p:cNvPr id="9" name="Shape 6"/>
          <p:cNvSpPr/>
          <p:nvPr/>
        </p:nvSpPr>
        <p:spPr>
          <a:xfrm>
            <a:off x="5486400" y="4005072"/>
            <a:ext cx="146304" cy="146304"/>
          </a:xfrm>
          <a:prstGeom prst="rect">
            <a:avLst/>
          </a:prstGeom>
          <a:solidFill>
            <a:srgbClr val="C9A227"/>
          </a:solidFill>
          <a:ln/>
        </p:spPr>
        <p:txBody>
          <a:bodyPr/>
          <a:lstStyle/>
          <a:p>
            <a:endParaRPr lang="en-US"/>
          </a:p>
        </p:txBody>
      </p:sp>
      <p:sp>
        <p:nvSpPr>
          <p:cNvPr id="10" name="Text 7"/>
          <p:cNvSpPr/>
          <p:nvPr/>
        </p:nvSpPr>
        <p:spPr>
          <a:xfrm>
            <a:off x="5779008" y="3931920"/>
            <a:ext cx="5760720" cy="777240"/>
          </a:xfrm>
          <a:prstGeom prst="rect">
            <a:avLst/>
          </a:prstGeom>
          <a:noFill/>
          <a:ln/>
        </p:spPr>
        <p:txBody>
          <a:bodyPr wrap="square" rtlCol="0" anchor="ctr"/>
          <a:lstStyle/>
          <a:p>
            <a:pPr marL="0" indent="0">
              <a:lnSpc>
                <a:spcPct val="130000"/>
              </a:lnSpc>
              <a:buNone/>
            </a:pPr>
            <a:r>
              <a:rPr lang="en-US" sz="1200" dirty="0">
                <a:solidFill>
                  <a:srgbClr val="1B2740"/>
                </a:solidFill>
                <a:latin typeface="Liberation Sans" pitchFamily="34" charset="0"/>
                <a:ea typeface="Liberation Sans" pitchFamily="34" charset="-122"/>
                <a:cs typeface="Liberation Sans" pitchFamily="34" charset="-120"/>
              </a:rPr>
              <a:t>Our pilots bring decades of commercial aviation experience across the fleet.</a:t>
            </a:r>
            <a:endParaRPr lang="en-US" sz="1200" dirty="0"/>
          </a:p>
        </p:txBody>
      </p:sp>
      <p:sp>
        <p:nvSpPr>
          <p:cNvPr id="11" name="Shape 8"/>
          <p:cNvSpPr/>
          <p:nvPr/>
        </p:nvSpPr>
        <p:spPr>
          <a:xfrm>
            <a:off x="5486400" y="4919472"/>
            <a:ext cx="146304" cy="146304"/>
          </a:xfrm>
          <a:prstGeom prst="rect">
            <a:avLst/>
          </a:prstGeom>
          <a:solidFill>
            <a:srgbClr val="C9A227"/>
          </a:solidFill>
          <a:ln/>
        </p:spPr>
        <p:txBody>
          <a:bodyPr/>
          <a:lstStyle/>
          <a:p>
            <a:endParaRPr lang="en-US"/>
          </a:p>
        </p:txBody>
      </p:sp>
      <p:sp>
        <p:nvSpPr>
          <p:cNvPr id="12" name="Text 9"/>
          <p:cNvSpPr/>
          <p:nvPr/>
        </p:nvSpPr>
        <p:spPr>
          <a:xfrm>
            <a:off x="5779008" y="4846320"/>
            <a:ext cx="5760720" cy="777240"/>
          </a:xfrm>
          <a:prstGeom prst="rect">
            <a:avLst/>
          </a:prstGeom>
          <a:noFill/>
          <a:ln/>
        </p:spPr>
        <p:txBody>
          <a:bodyPr wrap="square" rtlCol="0" anchor="ctr"/>
          <a:lstStyle/>
          <a:p>
            <a:pPr marL="0" indent="0">
              <a:lnSpc>
                <a:spcPct val="130000"/>
              </a:lnSpc>
              <a:buNone/>
            </a:pPr>
            <a:r>
              <a:rPr lang="en-US" sz="1200" dirty="0">
                <a:solidFill>
                  <a:srgbClr val="1B2740"/>
                </a:solidFill>
                <a:latin typeface="Liberation Sans" pitchFamily="34" charset="0"/>
                <a:ea typeface="Liberation Sans" pitchFamily="34" charset="-122"/>
                <a:cs typeface="Liberation Sans" pitchFamily="34" charset="-120"/>
              </a:rPr>
              <a:t>Our operational procedures emphasize professionalism, regulatory compliance and continuous improvement.</a:t>
            </a:r>
            <a:endParaRPr lang="en-US" sz="1200" dirty="0"/>
          </a:p>
        </p:txBody>
      </p:sp>
      <p:sp>
        <p:nvSpPr>
          <p:cNvPr id="13" name="Shape 10"/>
          <p:cNvSpPr/>
          <p:nvPr/>
        </p:nvSpPr>
        <p:spPr>
          <a:xfrm>
            <a:off x="5486400" y="5852160"/>
            <a:ext cx="5760720" cy="914400"/>
          </a:xfrm>
          <a:prstGeom prst="rect">
            <a:avLst/>
          </a:prstGeom>
          <a:solidFill>
            <a:srgbClr val="F6F7F9"/>
          </a:solidFill>
          <a:ln/>
        </p:spPr>
        <p:txBody>
          <a:bodyPr/>
          <a:lstStyle/>
          <a:p>
            <a:endParaRPr lang="en-US"/>
          </a:p>
        </p:txBody>
      </p:sp>
      <p:sp>
        <p:nvSpPr>
          <p:cNvPr id="14" name="Text 11"/>
          <p:cNvSpPr/>
          <p:nvPr/>
        </p:nvSpPr>
        <p:spPr>
          <a:xfrm>
            <a:off x="5742432" y="6016752"/>
            <a:ext cx="5257800" cy="640080"/>
          </a:xfrm>
          <a:prstGeom prst="rect">
            <a:avLst/>
          </a:prstGeom>
          <a:noFill/>
          <a:ln/>
        </p:spPr>
        <p:txBody>
          <a:bodyPr wrap="square" rtlCol="0" anchor="ctr"/>
          <a:lstStyle/>
          <a:p>
            <a:pPr marL="0" indent="0">
              <a:lnSpc>
                <a:spcPct val="130000"/>
              </a:lnSpc>
              <a:buNone/>
            </a:pPr>
            <a:r>
              <a:rPr lang="en-US" sz="1250" i="1" dirty="0">
                <a:solidFill>
                  <a:srgbClr val="13233D"/>
                </a:solidFill>
                <a:latin typeface="Liberation Serif" pitchFamily="34" charset="0"/>
                <a:ea typeface="Liberation Serif" pitchFamily="34" charset="-122"/>
                <a:cs typeface="Liberation Serif" pitchFamily="34" charset="-120"/>
              </a:rPr>
              <a:t>Every investment we make ultimately supports one objective: providing safe, reliable transportation for every passenger on every flight.</a:t>
            </a:r>
            <a:endParaRPr lang="en-US" sz="1250" dirty="0"/>
          </a:p>
        </p:txBody>
      </p:sp>
      <p:sp>
        <p:nvSpPr>
          <p:cNvPr id="15" name="Text 12"/>
          <p:cNvSpPr/>
          <p:nvPr/>
        </p:nvSpPr>
        <p:spPr>
          <a:xfrm>
            <a:off x="548640" y="6455664"/>
            <a:ext cx="6400800" cy="274320"/>
          </a:xfrm>
          <a:prstGeom prst="rect">
            <a:avLst/>
          </a:prstGeom>
          <a:noFill/>
          <a:ln/>
        </p:spPr>
        <p:txBody>
          <a:bodyPr wrap="square" rtlCol="0" anchor="ctr"/>
          <a:lstStyle/>
          <a:p>
            <a:pPr marL="0" indent="0" algn="l">
              <a:buNone/>
            </a:pPr>
            <a:r>
              <a:rPr lang="en-US" sz="800" kern="0" spc="100" dirty="0">
                <a:solidFill>
                  <a:srgbClr val="9AA3B5"/>
                </a:solidFill>
                <a:latin typeface="Liberation Sans" pitchFamily="34" charset="0"/>
                <a:ea typeface="Liberation Sans" pitchFamily="34" charset="-122"/>
                <a:cs typeface="Liberation Sans" pitchFamily="34" charset="-120"/>
              </a:rPr>
              <a:t>ZIPLINE EXPRESS  ·  CONFIDENTIAL  ·  12</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0B1626"/>
        </a:solidFill>
        <a:effectLst/>
      </p:bgPr>
    </p:bg>
    <p:spTree>
      <p:nvGrpSpPr>
        <p:cNvPr id="1" name=""/>
        <p:cNvGrpSpPr/>
        <p:nvPr/>
      </p:nvGrpSpPr>
      <p:grpSpPr>
        <a:xfrm>
          <a:off x="0" y="0"/>
          <a:ext cx="0" cy="0"/>
          <a:chOff x="0" y="0"/>
          <a:chExt cx="0" cy="0"/>
        </a:xfrm>
      </p:grpSpPr>
      <p:pic>
        <p:nvPicPr>
          <p:cNvPr id="2" name="Image 0" descr="assets/fleet_compilation_portrait.png"/>
          <p:cNvPicPr>
            <a:picLocks noChangeAspect="1"/>
          </p:cNvPicPr>
          <p:nvPr/>
        </p:nvPicPr>
        <p:blipFill>
          <a:blip r:embed="rId3"/>
          <a:stretch>
            <a:fillRect/>
          </a:stretch>
        </p:blipFill>
        <p:spPr>
          <a:xfrm>
            <a:off x="6949440" y="0"/>
            <a:ext cx="5239512" cy="6858000"/>
          </a:xfrm>
          <a:prstGeom prst="rect">
            <a:avLst/>
          </a:prstGeom>
        </p:spPr>
      </p:pic>
      <p:sp>
        <p:nvSpPr>
          <p:cNvPr id="3" name="Shape 0"/>
          <p:cNvSpPr/>
          <p:nvPr/>
        </p:nvSpPr>
        <p:spPr>
          <a:xfrm>
            <a:off x="6949440" y="0"/>
            <a:ext cx="5239512" cy="6858000"/>
          </a:xfrm>
          <a:prstGeom prst="rect">
            <a:avLst/>
          </a:prstGeom>
          <a:solidFill>
            <a:srgbClr val="0B1626">
              <a:alpha val="40000"/>
            </a:srgbClr>
          </a:solidFill>
          <a:ln/>
        </p:spPr>
        <p:txBody>
          <a:bodyPr/>
          <a:lstStyle/>
          <a:p>
            <a:endParaRPr lang="en-US"/>
          </a:p>
        </p:txBody>
      </p:sp>
      <p:sp>
        <p:nvSpPr>
          <p:cNvPr id="4" name="Shape 1"/>
          <p:cNvSpPr/>
          <p:nvPr/>
        </p:nvSpPr>
        <p:spPr>
          <a:xfrm>
            <a:off x="0" y="0"/>
            <a:ext cx="6949440" cy="6858000"/>
          </a:xfrm>
          <a:prstGeom prst="rect">
            <a:avLst/>
          </a:prstGeom>
          <a:solidFill>
            <a:srgbClr val="0B1626"/>
          </a:solidFill>
          <a:ln/>
        </p:spPr>
        <p:txBody>
          <a:bodyPr/>
          <a:lstStyle/>
          <a:p>
            <a:endParaRPr lang="en-US"/>
          </a:p>
        </p:txBody>
      </p:sp>
      <p:pic>
        <p:nvPicPr>
          <p:cNvPr id="5" name="Image 1" descr="assets/baked_icon_gold_on_navydeep.png"/>
          <p:cNvPicPr>
            <a:picLocks noChangeAspect="1"/>
          </p:cNvPicPr>
          <p:nvPr/>
        </p:nvPicPr>
        <p:blipFill>
          <a:blip r:embed="rId4"/>
          <a:stretch>
            <a:fillRect/>
          </a:stretch>
        </p:blipFill>
        <p:spPr>
          <a:xfrm>
            <a:off x="685800" y="594360"/>
            <a:ext cx="457200" cy="576072"/>
          </a:xfrm>
          <a:prstGeom prst="rect">
            <a:avLst/>
          </a:prstGeom>
        </p:spPr>
      </p:pic>
      <p:sp>
        <p:nvSpPr>
          <p:cNvPr id="6" name="Text 2"/>
          <p:cNvSpPr/>
          <p:nvPr/>
        </p:nvSpPr>
        <p:spPr>
          <a:xfrm>
            <a:off x="685800" y="1554480"/>
            <a:ext cx="5852160" cy="640080"/>
          </a:xfrm>
          <a:prstGeom prst="rect">
            <a:avLst/>
          </a:prstGeom>
          <a:noFill/>
          <a:ln/>
        </p:spPr>
        <p:txBody>
          <a:bodyPr wrap="square" rtlCol="0" anchor="ctr"/>
          <a:lstStyle/>
          <a:p>
            <a:pPr marL="0" indent="0">
              <a:buNone/>
            </a:pPr>
            <a:r>
              <a:rPr lang="en-US" sz="3000" dirty="0">
                <a:solidFill>
                  <a:srgbClr val="FFFFFF"/>
                </a:solidFill>
                <a:latin typeface="Liberation Serif" pitchFamily="34" charset="0"/>
                <a:ea typeface="Liberation Serif" pitchFamily="34" charset="-122"/>
                <a:cs typeface="Liberation Serif" pitchFamily="34" charset="-120"/>
              </a:rPr>
              <a:t>Looking Forward</a:t>
            </a:r>
            <a:endParaRPr lang="en-US" sz="3000" dirty="0"/>
          </a:p>
        </p:txBody>
      </p:sp>
      <p:sp>
        <p:nvSpPr>
          <p:cNvPr id="7" name="Text 3"/>
          <p:cNvSpPr/>
          <p:nvPr/>
        </p:nvSpPr>
        <p:spPr>
          <a:xfrm>
            <a:off x="685800" y="2194560"/>
            <a:ext cx="5760720" cy="960120"/>
          </a:xfrm>
          <a:prstGeom prst="rect">
            <a:avLst/>
          </a:prstGeom>
          <a:noFill/>
          <a:ln/>
        </p:spPr>
        <p:txBody>
          <a:bodyPr wrap="square" rtlCol="0" anchor="ctr"/>
          <a:lstStyle/>
          <a:p>
            <a:pPr marL="0" indent="0">
              <a:lnSpc>
                <a:spcPct val="125000"/>
              </a:lnSpc>
              <a:buNone/>
            </a:pPr>
            <a:r>
              <a:rPr lang="en-US" sz="1500" i="1" dirty="0">
                <a:solidFill>
                  <a:srgbClr val="E8CD73"/>
                </a:solidFill>
                <a:latin typeface="Liberation Serif" pitchFamily="34" charset="0"/>
                <a:ea typeface="Liberation Serif" pitchFamily="34" charset="-122"/>
                <a:cs typeface="Liberation Serif" pitchFamily="34" charset="-120"/>
              </a:rPr>
              <a:t>Building the Next Generation of Regional</a:t>
            </a:r>
            <a:endParaRPr lang="en-US" sz="1500" dirty="0"/>
          </a:p>
          <a:p>
            <a:pPr marL="0" indent="0">
              <a:lnSpc>
                <a:spcPct val="125000"/>
              </a:lnSpc>
              <a:buNone/>
            </a:pPr>
            <a:r>
              <a:rPr lang="en-US" sz="1500" i="1" dirty="0">
                <a:solidFill>
                  <a:srgbClr val="E8CD73"/>
                </a:solidFill>
                <a:latin typeface="Liberation Serif" pitchFamily="34" charset="0"/>
                <a:ea typeface="Liberation Serif" pitchFamily="34" charset="-122"/>
                <a:cs typeface="Liberation Serif" pitchFamily="34" charset="-120"/>
              </a:rPr>
              <a:t>Air Transportation Across The Bahamas</a:t>
            </a:r>
            <a:endParaRPr lang="en-US" sz="1500" dirty="0"/>
          </a:p>
        </p:txBody>
      </p:sp>
      <p:sp>
        <p:nvSpPr>
          <p:cNvPr id="8" name="Text 4"/>
          <p:cNvSpPr/>
          <p:nvPr/>
        </p:nvSpPr>
        <p:spPr>
          <a:xfrm>
            <a:off x="685800" y="3246120"/>
            <a:ext cx="5760720" cy="1371600"/>
          </a:xfrm>
          <a:prstGeom prst="rect">
            <a:avLst/>
          </a:prstGeom>
          <a:noFill/>
          <a:ln/>
        </p:spPr>
        <p:txBody>
          <a:bodyPr wrap="square" rtlCol="0" anchor="ctr"/>
          <a:lstStyle/>
          <a:p>
            <a:pPr marL="0" indent="0">
              <a:lnSpc>
                <a:spcPct val="135000"/>
              </a:lnSpc>
              <a:buNone/>
            </a:pPr>
            <a:r>
              <a:rPr lang="en-US" sz="1250" dirty="0">
                <a:solidFill>
                  <a:srgbClr val="CBD3E1"/>
                </a:solidFill>
                <a:latin typeface="Liberation Sans" pitchFamily="34" charset="0"/>
                <a:ea typeface="Liberation Sans" pitchFamily="34" charset="-122"/>
                <a:cs typeface="Liberation Sans" pitchFamily="34" charset="-120"/>
              </a:rPr>
              <a:t>The planned acquisition of new aircraft represents more than fleet expansion. It represents Zipline Express' commitment to strengthening regional connectivity, supporting tourism, serving local communities and building a sustainable airline for the future.</a:t>
            </a:r>
            <a:endParaRPr lang="en-US" sz="1250" dirty="0"/>
          </a:p>
        </p:txBody>
      </p:sp>
      <p:sp>
        <p:nvSpPr>
          <p:cNvPr id="9" name="Text 5"/>
          <p:cNvSpPr/>
          <p:nvPr/>
        </p:nvSpPr>
        <p:spPr>
          <a:xfrm>
            <a:off x="685800" y="4617720"/>
            <a:ext cx="5760720" cy="640080"/>
          </a:xfrm>
          <a:prstGeom prst="rect">
            <a:avLst/>
          </a:prstGeom>
          <a:noFill/>
          <a:ln/>
        </p:spPr>
        <p:txBody>
          <a:bodyPr wrap="square" rtlCol="0" anchor="ctr"/>
          <a:lstStyle/>
          <a:p>
            <a:pPr marL="0" indent="0">
              <a:lnSpc>
                <a:spcPct val="130000"/>
              </a:lnSpc>
              <a:buNone/>
            </a:pPr>
            <a:r>
              <a:rPr lang="en-US" sz="1350" i="1" dirty="0">
                <a:solidFill>
                  <a:srgbClr val="FFFFFF"/>
                </a:solidFill>
                <a:latin typeface="Liberation Serif" pitchFamily="34" charset="0"/>
                <a:ea typeface="Liberation Serif" pitchFamily="34" charset="-122"/>
                <a:cs typeface="Liberation Serif" pitchFamily="34" charset="-120"/>
              </a:rPr>
              <a:t>We invite you to join us as we write the next chapter in Bahamian regional aviation.</a:t>
            </a:r>
            <a:endParaRPr lang="en-US" sz="1350" dirty="0"/>
          </a:p>
        </p:txBody>
      </p:sp>
      <p:sp>
        <p:nvSpPr>
          <p:cNvPr id="10" name="Shape 6"/>
          <p:cNvSpPr/>
          <p:nvPr/>
        </p:nvSpPr>
        <p:spPr>
          <a:xfrm>
            <a:off x="685800" y="5440680"/>
            <a:ext cx="5394960" cy="12802"/>
          </a:xfrm>
          <a:prstGeom prst="rect">
            <a:avLst/>
          </a:prstGeom>
          <a:solidFill>
            <a:srgbClr val="C9A227"/>
          </a:solidFill>
          <a:ln/>
        </p:spPr>
        <p:txBody>
          <a:bodyPr/>
          <a:lstStyle/>
          <a:p>
            <a:endParaRPr lang="en-US"/>
          </a:p>
        </p:txBody>
      </p:sp>
      <p:sp>
        <p:nvSpPr>
          <p:cNvPr id="11" name="Text 7"/>
          <p:cNvSpPr/>
          <p:nvPr/>
        </p:nvSpPr>
        <p:spPr>
          <a:xfrm>
            <a:off x="685800" y="5614416"/>
            <a:ext cx="5212080" cy="594360"/>
          </a:xfrm>
          <a:prstGeom prst="rect">
            <a:avLst/>
          </a:prstGeom>
          <a:noFill/>
          <a:ln/>
        </p:spPr>
        <p:txBody>
          <a:bodyPr wrap="square" rtlCol="0" anchor="ctr"/>
          <a:lstStyle/>
          <a:p>
            <a:pPr marL="0" indent="0">
              <a:lnSpc>
                <a:spcPct val="122000"/>
              </a:lnSpc>
              <a:buNone/>
            </a:pPr>
            <a:r>
              <a:rPr lang="en-US" sz="1450" b="1" dirty="0">
                <a:solidFill>
                  <a:srgbClr val="FFFFFF"/>
                </a:solidFill>
                <a:latin typeface="Liberation Sans" pitchFamily="34" charset="0"/>
                <a:ea typeface="Liberation Sans" pitchFamily="34" charset="-122"/>
                <a:cs typeface="Liberation Sans" pitchFamily="34" charset="-120"/>
              </a:rPr>
              <a:t>Captain Mornel Brown</a:t>
            </a:r>
            <a:endParaRPr lang="en-US" sz="1450" dirty="0"/>
          </a:p>
          <a:p>
            <a:pPr marL="0" indent="0">
              <a:lnSpc>
                <a:spcPct val="122000"/>
              </a:lnSpc>
              <a:buNone/>
            </a:pPr>
            <a:r>
              <a:rPr lang="en-US" sz="1100" dirty="0">
                <a:solidFill>
                  <a:srgbClr val="AEB9CC"/>
                </a:solidFill>
                <a:latin typeface="Liberation Sans" pitchFamily="34" charset="0"/>
                <a:ea typeface="Liberation Sans" pitchFamily="34" charset="-122"/>
                <a:cs typeface="Liberation Sans" pitchFamily="34" charset="-120"/>
              </a:rPr>
              <a:t>Founder &amp; Chief Executive Officer, Zipline Express Ltd.</a:t>
            </a:r>
            <a:endParaRPr lang="en-US" sz="1450" dirty="0"/>
          </a:p>
        </p:txBody>
      </p:sp>
      <p:sp>
        <p:nvSpPr>
          <p:cNvPr id="12" name="Text 8"/>
          <p:cNvSpPr/>
          <p:nvPr/>
        </p:nvSpPr>
        <p:spPr>
          <a:xfrm>
            <a:off x="548640" y="6455664"/>
            <a:ext cx="6400800" cy="274320"/>
          </a:xfrm>
          <a:prstGeom prst="rect">
            <a:avLst/>
          </a:prstGeom>
          <a:noFill/>
          <a:ln/>
        </p:spPr>
        <p:txBody>
          <a:bodyPr wrap="square" rtlCol="0" anchor="ctr"/>
          <a:lstStyle/>
          <a:p>
            <a:pPr marL="0" indent="0" algn="l">
              <a:buNone/>
            </a:pPr>
            <a:r>
              <a:rPr lang="en-US" sz="800" kern="0" spc="100" dirty="0">
                <a:solidFill>
                  <a:srgbClr val="5A6A8C"/>
                </a:solidFill>
                <a:latin typeface="Liberation Sans" pitchFamily="34" charset="0"/>
                <a:ea typeface="Liberation Sans" pitchFamily="34" charset="-122"/>
                <a:cs typeface="Liberation Sans" pitchFamily="34" charset="-120"/>
              </a:rPr>
              <a:t>ZIPLINE EXPRESS  ·  CONFIDENTIAL  ·  13</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1233</Words>
  <Application>Microsoft Macintosh PowerPoint</Application>
  <PresentationFormat>Widescreen</PresentationFormat>
  <Paragraphs>180</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Liberation Sans</vt:lpstr>
      <vt:lpstr>Liberation Serif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Zipline Express — Aircraft Leasing &amp; Financing Summary</dc:title>
  <dc:subject>PptxGenJS Presentation</dc:subject>
  <dc:creator>Zipline Express Ltd.</dc:creator>
  <cp:lastModifiedBy>Martin Weber</cp:lastModifiedBy>
  <cp:revision>2</cp:revision>
  <dcterms:created xsi:type="dcterms:W3CDTF">2026-09-02T15:01:33Z</dcterms:created>
  <dcterms:modified xsi:type="dcterms:W3CDTF">2026-09-02T15:08:50Z</dcterms:modified>
</cp:coreProperties>
</file>